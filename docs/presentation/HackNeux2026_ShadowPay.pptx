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oper Hewitt Bold" charset="1" panose="00000000000000000000"/>
      <p:regular r:id="rId14"/>
    </p:embeddedFont>
    <p:embeddedFont>
      <p:font typeface="Canva Sans Bold" charset="1" panose="020B0803030501040103"/>
      <p:regular r:id="rId15"/>
    </p:embeddedFont>
    <p:embeddedFont>
      <p:font typeface="Arimo Bold" charset="1" panose="020B0704020202020204"/>
      <p:regular r:id="rId19"/>
    </p:embeddedFont>
    <p:embeddedFont>
      <p:font typeface="Batangas" charset="1" panose="00000800000000000000"/>
      <p:regular r:id="rId20"/>
    </p:embeddedFont>
    <p:embeddedFont>
      <p:font typeface="Open Sauce Bold Italics" charset="1" panose="00000800000000000000"/>
      <p:regular r:id="rId21"/>
    </p:embeddedFont>
    <p:embeddedFont>
      <p:font typeface="Open Sauce Bold" charset="1" panose="00000800000000000000"/>
      <p:regular r:id="rId22"/>
    </p:embeddedFont>
    <p:embeddedFont>
      <p:font typeface="Open Sauce" charset="1" panose="00000500000000000000"/>
      <p:regular r:id="rId23"/>
    </p:embeddedFont>
    <p:embeddedFont>
      <p:font typeface="Cooper BT Bold" charset="1" panose="0208080404030B020404"/>
      <p:regular r:id="rId24"/>
    </p:embeddedFont>
    <p:embeddedFont>
      <p:font typeface="Cooper BT Light" charset="1" panose="0208050304030B020404"/>
      <p:regular r:id="rId25"/>
    </p:embeddedFont>
    <p:embeddedFont>
      <p:font typeface="Roboto" charset="1" panose="02000000000000000000"/>
      <p:regular r:id="rId30"/>
    </p:embeddedFont>
    <p:embeddedFont>
      <p:font typeface="Roboto Bold" charset="1" panose="02000000000000000000"/>
      <p:regular r:id="rId31"/>
    </p:embeddedFont>
    <p:embeddedFont>
      <p:font typeface="Canva Sans" charset="1" panose="020B0503030501040103"/>
      <p:regular r:id="rId32"/>
    </p:embeddedFont>
    <p:embeddedFont>
      <p:font typeface="Arial Bold" charset="1" panose="020B07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TpuL_1RI.mp4" Type="http://schemas.microsoft.com/office/2007/relationships/media"/><Relationship Id="rId11" Target="../media/image2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jpeg" Type="http://schemas.openxmlformats.org/officeDocument/2006/relationships/image"/><Relationship Id="rId6" Target="../media/VAHTpo_XVE0.mp4" Type="http://schemas.openxmlformats.org/officeDocument/2006/relationships/video"/><Relationship Id="rId7" Target="../media/VAHTpo_XVE0.mp4" Type="http://schemas.microsoft.com/office/2007/relationships/media"/><Relationship Id="rId8" Target="../media/image6.jpeg" Type="http://schemas.openxmlformats.org/officeDocument/2006/relationships/image"/><Relationship Id="rId9" Target="../media/VAHTpuL_1RI.mp4" Type="http://schemas.openxmlformats.org/officeDocument/2006/relationships/video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jpeg" Type="http://schemas.openxmlformats.org/officeDocument/2006/relationships/image"/><Relationship Id="rId7" Target="../media/VAHTpSXc5Oo.mp4" Type="http://schemas.openxmlformats.org/officeDocument/2006/relationships/video"/><Relationship Id="rId8" Target="../media/VAHTpSXc5Oo.mp4" Type="http://schemas.microsoft.com/office/2007/relationships/media"/><Relationship Id="rId9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Tpo_XVE0.mp4" Type="http://schemas.openxmlformats.org/officeDocument/2006/relationships/video"/><Relationship Id="rId11" Target="../media/VAHTpo_XVE0.mp4" Type="http://schemas.microsoft.com/office/2007/relationships/media"/><Relationship Id="rId12" Target="../media/image2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1.png" Type="http://schemas.openxmlformats.org/officeDocument/2006/relationships/image"/><Relationship Id="rId6" Target="../media/image6.jpeg" Type="http://schemas.openxmlformats.org/officeDocument/2006/relationships/image"/><Relationship Id="rId7" Target="../media/VAHTpuL_1RI.mp4" Type="http://schemas.openxmlformats.org/officeDocument/2006/relationships/video"/><Relationship Id="rId8" Target="../media/VAHTpuL_1RI.mp4" Type="http://schemas.microsoft.com/office/2007/relationships/media"/><Relationship Id="rId9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2.png" Type="http://schemas.openxmlformats.org/officeDocument/2006/relationships/image"/><Relationship Id="rId6" Target="../media/image13.jpeg" Type="http://schemas.openxmlformats.org/officeDocument/2006/relationships/image"/><Relationship Id="rId7" Target="../media/VAHTps3B18E.mp4" Type="http://schemas.openxmlformats.org/officeDocument/2006/relationships/video"/><Relationship Id="rId8" Target="../media/VAHTps3B18E.mp4" Type="http://schemas.microsoft.com/office/2007/relationships/media"/><Relationship Id="rId9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19" Target="../media/image30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31.svg" Type="http://schemas.openxmlformats.org/officeDocument/2006/relationships/image"/><Relationship Id="rId21" Target="../media/image32.png" Type="http://schemas.openxmlformats.org/officeDocument/2006/relationships/image"/><Relationship Id="rId22" Target="../media/image33.svg" Type="http://schemas.openxmlformats.org/officeDocument/2006/relationships/image"/><Relationship Id="rId23" Target="../media/image34.png" Type="http://schemas.openxmlformats.org/officeDocument/2006/relationships/image"/><Relationship Id="rId24" Target="../media/image35.svg" Type="http://schemas.openxmlformats.org/officeDocument/2006/relationships/image"/><Relationship Id="rId25" Target="../media/image36.png" Type="http://schemas.openxmlformats.org/officeDocument/2006/relationships/image"/><Relationship Id="rId26" Target="../media/image37.svg" Type="http://schemas.openxmlformats.org/officeDocument/2006/relationships/image"/><Relationship Id="rId27" Target="../media/image38.png" Type="http://schemas.openxmlformats.org/officeDocument/2006/relationships/image"/><Relationship Id="rId28" Target="../media/image39.svg" Type="http://schemas.openxmlformats.org/officeDocument/2006/relationships/image"/><Relationship Id="rId29" Target="../media/image40.png" Type="http://schemas.openxmlformats.org/officeDocument/2006/relationships/image"/><Relationship Id="rId3" Target="../media/image14.png" Type="http://schemas.openxmlformats.org/officeDocument/2006/relationships/image"/><Relationship Id="rId30" Target="../media/image41.svg" Type="http://schemas.openxmlformats.org/officeDocument/2006/relationships/image"/><Relationship Id="rId31" Target="../media/image42.png" Type="http://schemas.openxmlformats.org/officeDocument/2006/relationships/image"/><Relationship Id="rId32" Target="../media/image43.svg" Type="http://schemas.openxmlformats.org/officeDocument/2006/relationships/image"/><Relationship Id="rId33" Target="../media/image44.png" Type="http://schemas.openxmlformats.org/officeDocument/2006/relationships/image"/><Relationship Id="rId34" Target="../media/image45.svg" Type="http://schemas.openxmlformats.org/officeDocument/2006/relationships/image"/><Relationship Id="rId35" Target="../media/image46.png" Type="http://schemas.openxmlformats.org/officeDocument/2006/relationships/image"/><Relationship Id="rId36" Target="../media/image47.svg" Type="http://schemas.openxmlformats.org/officeDocument/2006/relationships/image"/><Relationship Id="rId37" Target="../media/image48.png" Type="http://schemas.openxmlformats.org/officeDocument/2006/relationships/image"/><Relationship Id="rId38" Target="../media/image49.svg" Type="http://schemas.openxmlformats.org/officeDocument/2006/relationships/image"/><Relationship Id="rId39" Target="../media/image50.png" Type="http://schemas.openxmlformats.org/officeDocument/2006/relationships/image"/><Relationship Id="rId4" Target="../media/image15.svg" Type="http://schemas.openxmlformats.org/officeDocument/2006/relationships/image"/><Relationship Id="rId40" Target="../media/image51.svg" Type="http://schemas.openxmlformats.org/officeDocument/2006/relationships/image"/><Relationship Id="rId41" Target="../media/image52.png" Type="http://schemas.openxmlformats.org/officeDocument/2006/relationships/image"/><Relationship Id="rId42" Target="../media/image53.svg" Type="http://schemas.openxmlformats.org/officeDocument/2006/relationships/image"/><Relationship Id="rId43" Target="../media/image54.png" Type="http://schemas.openxmlformats.org/officeDocument/2006/relationships/image"/><Relationship Id="rId44" Target="../media/image55.svg" Type="http://schemas.openxmlformats.org/officeDocument/2006/relationships/image"/><Relationship Id="rId45" Target="../media/image56.png" Type="http://schemas.openxmlformats.org/officeDocument/2006/relationships/image"/><Relationship Id="rId46" Target="../media/image57.svg" Type="http://schemas.openxmlformats.org/officeDocument/2006/relationships/image"/><Relationship Id="rId47" Target="../media/image58.png" Type="http://schemas.openxmlformats.org/officeDocument/2006/relationships/image"/><Relationship Id="rId48" Target="../media/image59.svg" Type="http://schemas.openxmlformats.org/officeDocument/2006/relationships/image"/><Relationship Id="rId49" Target="../media/image60.png" Type="http://schemas.openxmlformats.org/officeDocument/2006/relationships/image"/><Relationship Id="rId5" Target="../media/image16.png" Type="http://schemas.openxmlformats.org/officeDocument/2006/relationships/image"/><Relationship Id="rId50" Target="../media/image61.svg" Type="http://schemas.openxmlformats.org/officeDocument/2006/relationships/image"/><Relationship Id="rId51" Target="../media/image62.png" Type="http://schemas.openxmlformats.org/officeDocument/2006/relationships/image"/><Relationship Id="rId52" Target="../media/image63.svg" Type="http://schemas.openxmlformats.org/officeDocument/2006/relationships/image"/><Relationship Id="rId53" Target="../media/image64.png" Type="http://schemas.openxmlformats.org/officeDocument/2006/relationships/image"/><Relationship Id="rId54" Target="../media/image65.svg" Type="http://schemas.openxmlformats.org/officeDocument/2006/relationships/image"/><Relationship Id="rId55" Target="../media/image66.png" Type="http://schemas.openxmlformats.org/officeDocument/2006/relationships/image"/><Relationship Id="rId56" Target="../media/image67.svg" Type="http://schemas.openxmlformats.org/officeDocument/2006/relationships/image"/><Relationship Id="rId57" Target="../media/image68.png" Type="http://schemas.openxmlformats.org/officeDocument/2006/relationships/image"/><Relationship Id="rId58" Target="../media/image69.svg" Type="http://schemas.openxmlformats.org/officeDocument/2006/relationships/image"/><Relationship Id="rId59" Target="../media/image70.png" Type="http://schemas.openxmlformats.org/officeDocument/2006/relationships/image"/><Relationship Id="rId6" Target="../media/image17.svg" Type="http://schemas.openxmlformats.org/officeDocument/2006/relationships/image"/><Relationship Id="rId60" Target="../media/image71.svg" Type="http://schemas.openxmlformats.org/officeDocument/2006/relationships/image"/><Relationship Id="rId61" Target="../media/image72.png" Type="http://schemas.openxmlformats.org/officeDocument/2006/relationships/image"/><Relationship Id="rId62" Target="../media/image73.svg" Type="http://schemas.openxmlformats.org/officeDocument/2006/relationships/image"/><Relationship Id="rId63" Target="../media/image74.png" Type="http://schemas.openxmlformats.org/officeDocument/2006/relationships/image"/><Relationship Id="rId64" Target="../media/image75.svg" Type="http://schemas.openxmlformats.org/officeDocument/2006/relationships/image"/><Relationship Id="rId65" Target="../media/image76.png" Type="http://schemas.openxmlformats.org/officeDocument/2006/relationships/image"/><Relationship Id="rId66" Target="../media/image77.svg" Type="http://schemas.openxmlformats.org/officeDocument/2006/relationships/image"/><Relationship Id="rId67" Target="../media/image78.png" Type="http://schemas.openxmlformats.org/officeDocument/2006/relationships/image"/><Relationship Id="rId68" Target="../media/image79.svg" Type="http://schemas.openxmlformats.org/officeDocument/2006/relationships/image"/><Relationship Id="rId69" Target="../media/image3.png" Type="http://schemas.openxmlformats.org/officeDocument/2006/relationships/image"/><Relationship Id="rId7" Target="../media/image18.png" Type="http://schemas.openxmlformats.org/officeDocument/2006/relationships/image"/><Relationship Id="rId70" Target="../media/image4.svg" Type="http://schemas.openxmlformats.org/officeDocument/2006/relationships/image"/><Relationship Id="rId71" Target="../media/image2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4B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967" y="1459313"/>
            <a:ext cx="15469044" cy="730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</a:p>
          <a:p>
            <a:pPr algn="just" marL="712866" indent="-356433" lvl="1">
              <a:lnSpc>
                <a:spcPts val="9453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 Statement ID : </a:t>
            </a:r>
            <a:r>
              <a:rPr lang="en-US" b="true" sz="393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PS-07</a:t>
            </a:r>
          </a:p>
          <a:p>
            <a:pPr algn="just" marL="712866" indent="-356433" lvl="1">
              <a:lnSpc>
                <a:spcPts val="9453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 Statement Title- </a:t>
            </a:r>
            <a:r>
              <a:rPr lang="en-US" b="true" sz="393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Offline Micro-Payment Infrastructure</a:t>
            </a:r>
          </a:p>
          <a:p>
            <a:pPr algn="just" marL="712866" indent="-356433" lvl="1">
              <a:lnSpc>
                <a:spcPts val="9453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Theme - </a:t>
            </a:r>
            <a:r>
              <a:rPr lang="en-US" b="true" sz="393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FinTech &amp; Security</a:t>
            </a:r>
          </a:p>
          <a:p>
            <a:pPr algn="just" marL="712866" indent="-356433" lvl="1">
              <a:lnSpc>
                <a:spcPts val="9453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Institution - </a:t>
            </a:r>
            <a:r>
              <a:rPr lang="en-US" b="true" sz="393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National Forensic Sciences University </a:t>
            </a:r>
          </a:p>
          <a:p>
            <a:pPr algn="just" marL="712866" indent="-356433" lvl="1">
              <a:lnSpc>
                <a:spcPts val="9453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Team Name - </a:t>
            </a:r>
            <a:r>
              <a:rPr lang="en-US" b="true" sz="393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BobTheBuilder</a:t>
            </a:r>
          </a:p>
          <a:p>
            <a:pPr algn="just" marL="712866" indent="-356433" lvl="1">
              <a:lnSpc>
                <a:spcPts val="9453"/>
              </a:lnSpc>
              <a:buFont typeface="Arial"/>
              <a:buChar char="•"/>
            </a:pPr>
            <a:r>
              <a:rPr lang="en-US" b="true" sz="3939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Project - </a:t>
            </a:r>
            <a:r>
              <a:rPr lang="en-US" b="true" sz="393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ShadowPay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492" y="9258300"/>
            <a:ext cx="18288000" cy="822740"/>
            <a:chOff x="0" y="0"/>
            <a:chExt cx="3762963" cy="1692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62963" cy="169288"/>
            </a:xfrm>
            <a:custGeom>
              <a:avLst/>
              <a:gdLst/>
              <a:ahLst/>
              <a:cxnLst/>
              <a:rect r="r" b="b" t="t" l="l"/>
              <a:pathLst>
                <a:path h="169288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169288"/>
                  </a:lnTo>
                  <a:lnTo>
                    <a:pt x="0" y="1692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62963" cy="207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99733" y="4034493"/>
            <a:ext cx="7582298" cy="5223807"/>
          </a:xfrm>
          <a:custGeom>
            <a:avLst/>
            <a:gdLst/>
            <a:ahLst/>
            <a:cxnLst/>
            <a:rect r="r" b="b" t="t" l="l"/>
            <a:pathLst>
              <a:path h="5223807" w="7582298">
                <a:moveTo>
                  <a:pt x="0" y="0"/>
                </a:moveTo>
                <a:lnTo>
                  <a:pt x="7582298" y="0"/>
                </a:lnTo>
                <a:lnTo>
                  <a:pt x="7582298" y="5223807"/>
                </a:lnTo>
                <a:lnTo>
                  <a:pt x="0" y="5223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71547" y="-274235"/>
            <a:ext cx="9768364" cy="180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 b="true">
                <a:solidFill>
                  <a:srgbClr val="1413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HACK</a:t>
            </a:r>
            <a:r>
              <a:rPr lang="en-US" sz="90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NEXUS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89886" y="9428978"/>
            <a:ext cx="388379" cy="43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b="true" sz="2535">
                <a:solidFill>
                  <a:srgbClr val="1413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442584" y="0"/>
            <a:ext cx="5137136" cy="1161515"/>
          </a:xfrm>
          <a:custGeom>
            <a:avLst/>
            <a:gdLst/>
            <a:ahLst/>
            <a:cxnLst/>
            <a:rect r="r" b="b" t="t" l="l"/>
            <a:pathLst>
              <a:path h="1161515" w="5137136">
                <a:moveTo>
                  <a:pt x="0" y="0"/>
                </a:moveTo>
                <a:lnTo>
                  <a:pt x="5137136" y="0"/>
                </a:lnTo>
                <a:lnTo>
                  <a:pt x="5137136" y="1161515"/>
                </a:lnTo>
                <a:lnTo>
                  <a:pt x="0" y="11615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504" r="0" b="-2850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4530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8" id="8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8819" y="5690724"/>
            <a:ext cx="9026481" cy="3293023"/>
            <a:chOff x="0" y="0"/>
            <a:chExt cx="12035307" cy="43906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35307" cy="4390698"/>
            </a:xfrm>
            <a:custGeom>
              <a:avLst/>
              <a:gdLst/>
              <a:ahLst/>
              <a:cxnLst/>
              <a:rect r="r" b="b" t="t" l="l"/>
              <a:pathLst>
                <a:path h="4390698" w="12035307">
                  <a:moveTo>
                    <a:pt x="0" y="0"/>
                  </a:moveTo>
                  <a:lnTo>
                    <a:pt x="12035307" y="0"/>
                  </a:lnTo>
                  <a:lnTo>
                    <a:pt x="12035307" y="4390698"/>
                  </a:lnTo>
                  <a:lnTo>
                    <a:pt x="0" y="4390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6582" r="0" b="-65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50447" y="200896"/>
              <a:ext cx="11534414" cy="4013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b="true" sz="3033" i="true">
                  <a:solidFill>
                    <a:srgbClr val="000000"/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# Why This Matters? #</a:t>
              </a:r>
            </a:p>
            <a:p>
              <a:pPr algn="ctr">
                <a:lnSpc>
                  <a:spcPts val="2511"/>
                </a:lnSpc>
                <a:spcBef>
                  <a:spcPct val="0"/>
                </a:spcBef>
              </a:pPr>
              <a:r>
                <a:rPr lang="en-US" b="true" sz="2093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     Digital India cannot afford "online-only" payments</a:t>
              </a:r>
            </a:p>
            <a:p>
              <a:pPr algn="ctr">
                <a:lnSpc>
                  <a:spcPts val="2511"/>
                </a:lnSpc>
                <a:spcBef>
                  <a:spcPct val="0"/>
                </a:spcBef>
              </a:pPr>
            </a:p>
            <a:p>
              <a:pPr algn="ctr">
                <a:lnSpc>
                  <a:spcPts val="2391"/>
                </a:lnSpc>
                <a:spcBef>
                  <a:spcPct val="0"/>
                </a:spcBef>
              </a:pPr>
              <a:r>
                <a:rPr lang="en-US" sz="1993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government's vision of a cashless economy collapses if payments fail the moment the internet flickers.</a:t>
              </a:r>
            </a:p>
            <a:p>
              <a:pPr algn="ctr">
                <a:lnSpc>
                  <a:spcPts val="2391"/>
                </a:lnSpc>
                <a:spcBef>
                  <a:spcPct val="0"/>
                </a:spcBef>
              </a:pPr>
            </a:p>
            <a:p>
              <a:pPr algn="ctr">
                <a:lnSpc>
                  <a:spcPts val="2391"/>
                </a:lnSpc>
                <a:spcBef>
                  <a:spcPct val="0"/>
                </a:spcBef>
              </a:pPr>
              <a:r>
                <a:rPr lang="en-US" b="true" sz="1993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# </a:t>
              </a:r>
              <a:r>
                <a:rPr lang="en-US" b="true" sz="1993">
                  <a:solidFill>
                    <a:srgbClr val="4E88E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Offline payments are not a luxury—they are a necessity for a truly digital nation. </a:t>
              </a:r>
            </a:p>
            <a:p>
              <a:pPr algn="l">
                <a:lnSpc>
                  <a:spcPts val="353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289" y="1594184"/>
            <a:ext cx="9269011" cy="3624658"/>
            <a:chOff x="0" y="0"/>
            <a:chExt cx="12358681" cy="48328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58681" cy="4832877"/>
            </a:xfrm>
            <a:custGeom>
              <a:avLst/>
              <a:gdLst/>
              <a:ahLst/>
              <a:cxnLst/>
              <a:rect r="r" b="b" t="t" l="l"/>
              <a:pathLst>
                <a:path h="4832877" w="12358681">
                  <a:moveTo>
                    <a:pt x="0" y="0"/>
                  </a:moveTo>
                  <a:lnTo>
                    <a:pt x="12358681" y="0"/>
                  </a:lnTo>
                  <a:lnTo>
                    <a:pt x="12358681" y="4832877"/>
                  </a:lnTo>
                  <a:lnTo>
                    <a:pt x="0" y="4832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2786" r="0" b="-27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84337" y="241537"/>
              <a:ext cx="11691197" cy="4475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625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# Critical Problem : </a:t>
              </a:r>
            </a:p>
            <a:p>
              <a:pPr algn="l">
                <a:lnSpc>
                  <a:spcPts val="1916"/>
                </a:lnSpc>
              </a:pPr>
            </a:p>
            <a:p>
              <a:pPr algn="l">
                <a:lnSpc>
                  <a:spcPts val="2069"/>
                </a:lnSpc>
              </a:pPr>
              <a:r>
                <a:rPr lang="en-US" sz="1724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# Signal dead zones are everywhere:</a:t>
              </a:r>
            </a:p>
            <a:p>
              <a:pPr algn="l" marL="320085" indent="-160042" lvl="1">
                <a:lnSpc>
                  <a:spcPts val="1779"/>
                </a:lnSpc>
                <a:buAutoNum type="arabicPeriod" startAt="1"/>
              </a:pPr>
              <a:r>
                <a:rPr lang="en-US" b="true" sz="1482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 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Metro tunnels, b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asem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ts, bad weather, crowded stadiums, and  parking lots have </a:t>
              </a:r>
              <a:r>
                <a:rPr lang="en-US" sz="1482">
                  <a:solidFill>
                    <a:srgbClr val="FF313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zero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o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</a:t>
              </a:r>
              <a:r>
                <a:rPr lang="en-US" sz="1482">
                  <a:solidFill>
                    <a:srgbClr val="FF313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unstable connectivity.</a:t>
              </a:r>
            </a:p>
            <a:p>
              <a:pPr algn="l">
                <a:lnSpc>
                  <a:spcPts val="1779"/>
                </a:lnSpc>
              </a:pPr>
              <a:r>
                <a:rPr lang="en-US" sz="148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➡</a:t>
              </a:r>
              <a:r>
                <a:rPr lang="en-US" sz="1482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</a:t>
              </a:r>
              <a:r>
                <a:rPr lang="en-US" sz="1482" b="true">
                  <a:solidFill>
                    <a:srgbClr val="4E88E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No signal = No payment. The transaction dies before it starts.</a:t>
              </a:r>
            </a:p>
            <a:p>
              <a:pPr algn="l">
                <a:lnSpc>
                  <a:spcPts val="2069"/>
                </a:lnSpc>
              </a:pPr>
              <a:r>
                <a:rPr lang="en-US" sz="1724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# Backend servers fail unpredictably</a:t>
              </a:r>
            </a:p>
            <a:p>
              <a:pPr algn="l" marL="320085" indent="-160042" lvl="1">
                <a:lnSpc>
                  <a:spcPts val="1779"/>
                </a:lnSpc>
                <a:buAutoNum type="arabicPeriod" startAt="1"/>
              </a:pP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</a:t>
              </a:r>
              <a:r>
                <a:rPr lang="en-US" sz="1482">
                  <a:solidFill>
                    <a:srgbClr val="FF313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Bank gateways crash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, payment processors go down fo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ma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nt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ce,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and peak-hour 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tra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ff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 overl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oa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ds the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syst</a:t>
              </a:r>
              <a:r>
                <a:rPr lang="en-US" sz="1482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em.</a:t>
              </a:r>
            </a:p>
            <a:p>
              <a:pPr algn="l">
                <a:lnSpc>
                  <a:spcPts val="1779"/>
                </a:lnSpc>
              </a:pPr>
              <a:r>
                <a:rPr lang="en-US" sz="148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➡ </a:t>
              </a:r>
              <a:r>
                <a:rPr lang="en-US" sz="1482" b="true">
                  <a:solidFill>
                    <a:srgbClr val="4E88E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Even with full 5G, the payment fails because the server is dead.</a:t>
              </a:r>
            </a:p>
            <a:p>
              <a:pPr algn="l">
                <a:lnSpc>
                  <a:spcPts val="2069"/>
                </a:lnSpc>
              </a:pPr>
              <a:r>
                <a:rPr lang="en-US" sz="1724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# Offline transactions are completely blind</a:t>
              </a:r>
            </a:p>
            <a:p>
              <a:pPr algn="l" marL="319703" indent="-159852" lvl="1">
                <a:lnSpc>
                  <a:spcPts val="1776"/>
                </a:lnSpc>
                <a:buAutoNum type="arabicPeriod" startAt="1"/>
              </a:pPr>
              <a:r>
                <a:rPr lang="en-US" b="true" sz="1480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 </a:t>
              </a:r>
              <a:r>
                <a:rPr lang="en-US" sz="1480">
                  <a:solidFill>
                    <a:srgbClr val="FF3131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No real-time balance check</a:t>
              </a:r>
              <a:r>
                <a:rPr lang="en-US" sz="1480">
                  <a:solidFill>
                    <a:srgbClr val="00000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, no fraud scoring, no ability to revoke or cancel a suspicious payment.</a:t>
              </a:r>
            </a:p>
            <a:p>
              <a:pPr algn="l">
                <a:lnSpc>
                  <a:spcPts val="1776"/>
                </a:lnSpc>
              </a:pPr>
              <a:r>
                <a:rPr lang="en-US" sz="148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➡ </a:t>
              </a:r>
              <a:r>
                <a:rPr lang="en-US" sz="1480" b="true">
                  <a:solidFill>
                    <a:srgbClr val="4E88E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We are approving payments in the dark – with zero visibility into risk.</a:t>
              </a:r>
            </a:p>
            <a:p>
              <a:pPr algn="ctr">
                <a:lnSpc>
                  <a:spcPts val="177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348819" y="2229972"/>
            <a:ext cx="31263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290577" y="332124"/>
            <a:ext cx="12516569" cy="113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9"/>
              </a:lnSpc>
            </a:pPr>
            <a:r>
              <a:rPr lang="en-US" sz="3683" b="tru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Zero</a:t>
            </a:r>
            <a:r>
              <a:rPr lang="en-US" b="true" sz="3683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-Trust Offline Payment Infrastructure For Secure Offline Transactions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2250334" y="940270"/>
            <a:ext cx="38211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0985950" y="923225"/>
            <a:ext cx="38211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6071531" y="1466702"/>
            <a:ext cx="49144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11730"/>
          <a:stretch>
            <a:fillRect/>
          </a:stretch>
        </p:blipFill>
        <p:spPr>
          <a:xfrm flipH="false" flipV="false" rot="0">
            <a:off x="9724150" y="1839226"/>
            <a:ext cx="3711441" cy="7251752"/>
          </a:xfrm>
          <a:prstGeom prst="rect">
            <a:avLst/>
          </a:prstGeom>
        </p:spPr>
      </p:pic>
      <p:pic>
        <p:nvPicPr>
          <p:cNvPr name="Picture 23" id="23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1845" r="0" b="10341"/>
          <a:stretch>
            <a:fillRect/>
          </a:stretch>
        </p:blipFill>
        <p:spPr>
          <a:xfrm flipH="false" flipV="false" rot="0">
            <a:off x="13665663" y="1861371"/>
            <a:ext cx="3707937" cy="7207462"/>
          </a:xfrm>
          <a:prstGeom prst="rect">
            <a:avLst/>
          </a:prstGeom>
        </p:spPr>
      </p:pic>
      <p:sp>
        <p:nvSpPr>
          <p:cNvPr name="Freeform 24" id="24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8504" r="0" b="-28504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945600" cy="227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99489" y="1363199"/>
            <a:ext cx="4299652" cy="8036733"/>
          </a:xfrm>
          <a:custGeom>
            <a:avLst/>
            <a:gdLst/>
            <a:ahLst/>
            <a:cxnLst/>
            <a:rect r="r" b="b" t="t" l="l"/>
            <a:pathLst>
              <a:path h="8036733" w="4299652">
                <a:moveTo>
                  <a:pt x="0" y="0"/>
                </a:moveTo>
                <a:lnTo>
                  <a:pt x="4299652" y="0"/>
                </a:lnTo>
                <a:lnTo>
                  <a:pt x="4299652" y="8036733"/>
                </a:lnTo>
                <a:lnTo>
                  <a:pt x="0" y="80367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46538" y="1249101"/>
            <a:ext cx="12079106" cy="8052737"/>
          </a:xfrm>
          <a:custGeom>
            <a:avLst/>
            <a:gdLst/>
            <a:ahLst/>
            <a:cxnLst/>
            <a:rect r="r" b="b" t="t" l="l"/>
            <a:pathLst>
              <a:path h="8052737" w="12079106">
                <a:moveTo>
                  <a:pt x="0" y="0"/>
                </a:moveTo>
                <a:lnTo>
                  <a:pt x="12079105" y="0"/>
                </a:lnTo>
                <a:lnTo>
                  <a:pt x="12079105" y="8052737"/>
                </a:lnTo>
                <a:lnTo>
                  <a:pt x="0" y="8052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12" t="1960" r="0" b="8341"/>
          <a:stretch>
            <a:fillRect/>
          </a:stretch>
        </p:blipFill>
        <p:spPr>
          <a:xfrm flipH="false" flipV="false" rot="0">
            <a:off x="1346020" y="1441847"/>
            <a:ext cx="4006591" cy="7958085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8504" r="0" b="-28504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1975" y="-35652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945600" cy="227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99397" y="2990049"/>
            <a:ext cx="2773213" cy="5183575"/>
          </a:xfrm>
          <a:custGeom>
            <a:avLst/>
            <a:gdLst/>
            <a:ahLst/>
            <a:cxnLst/>
            <a:rect r="r" b="b" t="t" l="l"/>
            <a:pathLst>
              <a:path h="5183575" w="2773213">
                <a:moveTo>
                  <a:pt x="0" y="0"/>
                </a:moveTo>
                <a:lnTo>
                  <a:pt x="2773213" y="0"/>
                </a:lnTo>
                <a:lnTo>
                  <a:pt x="2773213" y="5183576"/>
                </a:lnTo>
                <a:lnTo>
                  <a:pt x="0" y="518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1915" y="2990049"/>
            <a:ext cx="2769857" cy="5177303"/>
          </a:xfrm>
          <a:custGeom>
            <a:avLst/>
            <a:gdLst/>
            <a:ahLst/>
            <a:cxnLst/>
            <a:rect r="r" b="b" t="t" l="l"/>
            <a:pathLst>
              <a:path h="5177303" w="2769857">
                <a:moveTo>
                  <a:pt x="0" y="0"/>
                </a:moveTo>
                <a:lnTo>
                  <a:pt x="2769857" y="0"/>
                </a:lnTo>
                <a:lnTo>
                  <a:pt x="2769857" y="5177303"/>
                </a:lnTo>
                <a:lnTo>
                  <a:pt x="0" y="51773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77385" y="1357975"/>
            <a:ext cx="12336717" cy="8224478"/>
          </a:xfrm>
          <a:custGeom>
            <a:avLst/>
            <a:gdLst/>
            <a:ahLst/>
            <a:cxnLst/>
            <a:rect r="r" b="b" t="t" l="l"/>
            <a:pathLst>
              <a:path h="8224478" w="12336717">
                <a:moveTo>
                  <a:pt x="0" y="0"/>
                </a:moveTo>
                <a:lnTo>
                  <a:pt x="12336716" y="0"/>
                </a:lnTo>
                <a:lnTo>
                  <a:pt x="12336716" y="8224478"/>
                </a:lnTo>
                <a:lnTo>
                  <a:pt x="0" y="8224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17" id="17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1845" r="0" b="10341"/>
          <a:stretch>
            <a:fillRect/>
          </a:stretch>
        </p:blipFill>
        <p:spPr>
          <a:xfrm flipH="false" flipV="false" rot="0">
            <a:off x="3090054" y="2990049"/>
            <a:ext cx="2663505" cy="5177303"/>
          </a:xfrm>
          <a:prstGeom prst="rect">
            <a:avLst/>
          </a:prstGeom>
        </p:spPr>
      </p:pic>
      <p:pic>
        <p:nvPicPr>
          <p:cNvPr name="Picture 18" id="18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0" t="0" r="0" b="11730"/>
          <a:stretch>
            <a:fillRect/>
          </a:stretch>
        </p:blipFill>
        <p:spPr>
          <a:xfrm flipH="false" flipV="false" rot="0">
            <a:off x="241974" y="2990049"/>
            <a:ext cx="2649739" cy="5177303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028700" y="2389274"/>
            <a:ext cx="730275" cy="38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2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20866" y="2389274"/>
            <a:ext cx="730275" cy="38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7"/>
              </a:lnSpc>
            </a:pPr>
            <a:r>
              <a:rPr lang="en-US" sz="22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Alice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8504" r="0" b="-28504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98275" y="9922482"/>
            <a:ext cx="24748197" cy="1021509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945600" cy="227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73667" y="1169536"/>
            <a:ext cx="4475271" cy="8364993"/>
          </a:xfrm>
          <a:custGeom>
            <a:avLst/>
            <a:gdLst/>
            <a:ahLst/>
            <a:cxnLst/>
            <a:rect r="r" b="b" t="t" l="l"/>
            <a:pathLst>
              <a:path h="8364993" w="4475271">
                <a:moveTo>
                  <a:pt x="0" y="0"/>
                </a:moveTo>
                <a:lnTo>
                  <a:pt x="4475272" y="0"/>
                </a:lnTo>
                <a:lnTo>
                  <a:pt x="4475272" y="8364994"/>
                </a:lnTo>
                <a:lnTo>
                  <a:pt x="0" y="83649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61954" y="1462643"/>
            <a:ext cx="12013394" cy="8008929"/>
          </a:xfrm>
          <a:custGeom>
            <a:avLst/>
            <a:gdLst/>
            <a:ahLst/>
            <a:cxnLst/>
            <a:rect r="r" b="b" t="t" l="l"/>
            <a:pathLst>
              <a:path h="8008929" w="12013394">
                <a:moveTo>
                  <a:pt x="0" y="0"/>
                </a:moveTo>
                <a:lnTo>
                  <a:pt x="12013393" y="0"/>
                </a:lnTo>
                <a:lnTo>
                  <a:pt x="12013393" y="8008929"/>
                </a:lnTo>
                <a:lnTo>
                  <a:pt x="0" y="8008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4847" r="0" b="6836"/>
          <a:stretch>
            <a:fillRect/>
          </a:stretch>
        </p:blipFill>
        <p:spPr>
          <a:xfrm flipH="false" flipV="false" rot="0">
            <a:off x="1308607" y="1249101"/>
            <a:ext cx="4205392" cy="8222471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8504" r="0" b="-28504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60155" y="7874234"/>
            <a:ext cx="1543570" cy="1271572"/>
          </a:xfrm>
          <a:custGeom>
            <a:avLst/>
            <a:gdLst/>
            <a:ahLst/>
            <a:cxnLst/>
            <a:rect r="r" b="b" t="t" l="l"/>
            <a:pathLst>
              <a:path h="1271572" w="1543570">
                <a:moveTo>
                  <a:pt x="0" y="0"/>
                </a:moveTo>
                <a:lnTo>
                  <a:pt x="1543570" y="0"/>
                </a:lnTo>
                <a:lnTo>
                  <a:pt x="1543570" y="1271573"/>
                </a:lnTo>
                <a:lnTo>
                  <a:pt x="0" y="1271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5692" y="7868698"/>
            <a:ext cx="1554641" cy="1282646"/>
          </a:xfrm>
          <a:custGeom>
            <a:avLst/>
            <a:gdLst/>
            <a:ahLst/>
            <a:cxnLst/>
            <a:rect r="r" b="b" t="t" l="l"/>
            <a:pathLst>
              <a:path h="1282646" w="1554641">
                <a:moveTo>
                  <a:pt x="0" y="0"/>
                </a:moveTo>
                <a:lnTo>
                  <a:pt x="1554641" y="0"/>
                </a:lnTo>
                <a:lnTo>
                  <a:pt x="1554641" y="1282645"/>
                </a:lnTo>
                <a:lnTo>
                  <a:pt x="0" y="1282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295" y="5394679"/>
            <a:ext cx="5935303" cy="3587470"/>
          </a:xfrm>
          <a:custGeom>
            <a:avLst/>
            <a:gdLst/>
            <a:ahLst/>
            <a:cxnLst/>
            <a:rect r="r" b="b" t="t" l="l"/>
            <a:pathLst>
              <a:path h="3587470" w="5935303">
                <a:moveTo>
                  <a:pt x="0" y="0"/>
                </a:moveTo>
                <a:lnTo>
                  <a:pt x="5935304" y="0"/>
                </a:lnTo>
                <a:lnTo>
                  <a:pt x="5935304" y="3587470"/>
                </a:lnTo>
                <a:lnTo>
                  <a:pt x="0" y="3587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759" y="5389143"/>
            <a:ext cx="5946377" cy="3597734"/>
          </a:xfrm>
          <a:custGeom>
            <a:avLst/>
            <a:gdLst/>
            <a:ahLst/>
            <a:cxnLst/>
            <a:rect r="r" b="b" t="t" l="l"/>
            <a:pathLst>
              <a:path h="3597734" w="5946377">
                <a:moveTo>
                  <a:pt x="0" y="0"/>
                </a:moveTo>
                <a:lnTo>
                  <a:pt x="5946376" y="0"/>
                </a:lnTo>
                <a:lnTo>
                  <a:pt x="5946376" y="3597734"/>
                </a:lnTo>
                <a:lnTo>
                  <a:pt x="0" y="35977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97110" y="5149037"/>
            <a:ext cx="2545137" cy="1591576"/>
          </a:xfrm>
          <a:custGeom>
            <a:avLst/>
            <a:gdLst/>
            <a:ahLst/>
            <a:cxnLst/>
            <a:rect r="r" b="b" t="t" l="l"/>
            <a:pathLst>
              <a:path h="1591576" w="2545137">
                <a:moveTo>
                  <a:pt x="0" y="0"/>
                </a:moveTo>
                <a:lnTo>
                  <a:pt x="2545137" y="0"/>
                </a:lnTo>
                <a:lnTo>
                  <a:pt x="2545137" y="1591576"/>
                </a:lnTo>
                <a:lnTo>
                  <a:pt x="0" y="15915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90569" y="5143500"/>
            <a:ext cx="2557216" cy="1602901"/>
          </a:xfrm>
          <a:custGeom>
            <a:avLst/>
            <a:gdLst/>
            <a:ahLst/>
            <a:cxnLst/>
            <a:rect r="r" b="b" t="t" l="l"/>
            <a:pathLst>
              <a:path h="1602901" w="2557216">
                <a:moveTo>
                  <a:pt x="0" y="0"/>
                </a:moveTo>
                <a:lnTo>
                  <a:pt x="2557216" y="0"/>
                </a:lnTo>
                <a:lnTo>
                  <a:pt x="2557216" y="1602901"/>
                </a:lnTo>
                <a:lnTo>
                  <a:pt x="0" y="16029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44620" y="6137095"/>
            <a:ext cx="1225197" cy="1173794"/>
          </a:xfrm>
          <a:custGeom>
            <a:avLst/>
            <a:gdLst/>
            <a:ahLst/>
            <a:cxnLst/>
            <a:rect r="r" b="b" t="t" l="l"/>
            <a:pathLst>
              <a:path h="1173794" w="1225197">
                <a:moveTo>
                  <a:pt x="0" y="0"/>
                </a:moveTo>
                <a:lnTo>
                  <a:pt x="1225196" y="0"/>
                </a:lnTo>
                <a:lnTo>
                  <a:pt x="1225196" y="1173795"/>
                </a:lnTo>
                <a:lnTo>
                  <a:pt x="0" y="11737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38359" y="6131559"/>
            <a:ext cx="1241957" cy="1184931"/>
          </a:xfrm>
          <a:custGeom>
            <a:avLst/>
            <a:gdLst/>
            <a:ahLst/>
            <a:cxnLst/>
            <a:rect r="r" b="b" t="t" l="l"/>
            <a:pathLst>
              <a:path h="1184931" w="1241957">
                <a:moveTo>
                  <a:pt x="0" y="0"/>
                </a:moveTo>
                <a:lnTo>
                  <a:pt x="1241958" y="0"/>
                </a:lnTo>
                <a:lnTo>
                  <a:pt x="1241958" y="1184931"/>
                </a:lnTo>
                <a:lnTo>
                  <a:pt x="0" y="11849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402346" y="6712819"/>
            <a:ext cx="1225189" cy="1170635"/>
          </a:xfrm>
          <a:custGeom>
            <a:avLst/>
            <a:gdLst/>
            <a:ahLst/>
            <a:cxnLst/>
            <a:rect r="r" b="b" t="t" l="l"/>
            <a:pathLst>
              <a:path h="1170635" w="1225189">
                <a:moveTo>
                  <a:pt x="0" y="0"/>
                </a:moveTo>
                <a:lnTo>
                  <a:pt x="1225189" y="0"/>
                </a:lnTo>
                <a:lnTo>
                  <a:pt x="1225189" y="1170635"/>
                </a:lnTo>
                <a:lnTo>
                  <a:pt x="0" y="117063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96078" y="6707283"/>
            <a:ext cx="1236994" cy="1181714"/>
          </a:xfrm>
          <a:custGeom>
            <a:avLst/>
            <a:gdLst/>
            <a:ahLst/>
            <a:cxnLst/>
            <a:rect r="r" b="b" t="t" l="l"/>
            <a:pathLst>
              <a:path h="1181714" w="1236994">
                <a:moveTo>
                  <a:pt x="0" y="0"/>
                </a:moveTo>
                <a:lnTo>
                  <a:pt x="1236995" y="0"/>
                </a:lnTo>
                <a:lnTo>
                  <a:pt x="1236995" y="1181714"/>
                </a:lnTo>
                <a:lnTo>
                  <a:pt x="0" y="11817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0666" y="7288558"/>
            <a:ext cx="1264588" cy="1193550"/>
          </a:xfrm>
          <a:custGeom>
            <a:avLst/>
            <a:gdLst/>
            <a:ahLst/>
            <a:cxnLst/>
            <a:rect r="r" b="b" t="t" l="l"/>
            <a:pathLst>
              <a:path h="1193550" w="1264588">
                <a:moveTo>
                  <a:pt x="0" y="0"/>
                </a:moveTo>
                <a:lnTo>
                  <a:pt x="1264588" y="0"/>
                </a:lnTo>
                <a:lnTo>
                  <a:pt x="1264588" y="1193550"/>
                </a:lnTo>
                <a:lnTo>
                  <a:pt x="0" y="11935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5504" y="7283023"/>
            <a:ext cx="1275541" cy="1204621"/>
          </a:xfrm>
          <a:custGeom>
            <a:avLst/>
            <a:gdLst/>
            <a:ahLst/>
            <a:cxnLst/>
            <a:rect r="r" b="b" t="t" l="l"/>
            <a:pathLst>
              <a:path h="1204621" w="1275541">
                <a:moveTo>
                  <a:pt x="0" y="0"/>
                </a:moveTo>
                <a:lnTo>
                  <a:pt x="1275541" y="0"/>
                </a:lnTo>
                <a:lnTo>
                  <a:pt x="1275541" y="1204621"/>
                </a:lnTo>
                <a:lnTo>
                  <a:pt x="0" y="120462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6295" y="5626734"/>
            <a:ext cx="33610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2070" b="true">
                <a:solidFill>
                  <a:srgbClr val="48484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# </a:t>
            </a:r>
            <a:r>
              <a:rPr lang="en-US" sz="207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Potential Challenges#</a:t>
            </a:r>
            <a:r>
              <a:rPr lang="en-US" sz="2070" b="true">
                <a:solidFill>
                  <a:srgbClr val="48484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17130" y="6627338"/>
            <a:ext cx="28116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452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# The “Middle-Node Tampering”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67146" y="6884513"/>
            <a:ext cx="367685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What if a malici</a:t>
            </a:r>
            <a:r>
              <a:rPr lang="en-US" sz="109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ous node intercepts a transaction record and alters the amount, payee, or timestamp before it syncs to the server?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50107" y="7737395"/>
            <a:ext cx="259897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452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# Trustl</a:t>
            </a:r>
            <a:r>
              <a:rPr lang="en-US" sz="1452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ess Handshake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50107" y="7998002"/>
            <a:ext cx="458780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do</a:t>
            </a:r>
            <a:r>
              <a:rPr lang="en-US" sz="10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Bob know Alice's phone hasn't been hacked to show a fake balance?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2778" y="8481970"/>
            <a:ext cx="272819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452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# Device Loss or Theft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33109" y="8735294"/>
            <a:ext cx="511671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sz="10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-US" sz="109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 user's phone is lost, stolen, or broken during an offline handshake—reserved funds are trapped in the secure hardware, potentially lost forever.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234751" y="6208325"/>
            <a:ext cx="343332" cy="347081"/>
          </a:xfrm>
          <a:custGeom>
            <a:avLst/>
            <a:gdLst/>
            <a:ahLst/>
            <a:cxnLst/>
            <a:rect r="r" b="b" t="t" l="l"/>
            <a:pathLst>
              <a:path h="347081" w="343332">
                <a:moveTo>
                  <a:pt x="0" y="0"/>
                </a:moveTo>
                <a:lnTo>
                  <a:pt x="343332" y="0"/>
                </a:lnTo>
                <a:lnTo>
                  <a:pt x="343332" y="347082"/>
                </a:lnTo>
                <a:lnTo>
                  <a:pt x="0" y="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182455" y="8366068"/>
            <a:ext cx="350654" cy="143952"/>
          </a:xfrm>
          <a:custGeom>
            <a:avLst/>
            <a:gdLst/>
            <a:ahLst/>
            <a:cxnLst/>
            <a:rect r="r" b="b" t="t" l="l"/>
            <a:pathLst>
              <a:path h="143952" w="350654">
                <a:moveTo>
                  <a:pt x="0" y="0"/>
                </a:moveTo>
                <a:lnTo>
                  <a:pt x="350654" y="0"/>
                </a:lnTo>
                <a:lnTo>
                  <a:pt x="350654" y="143953"/>
                </a:lnTo>
                <a:lnTo>
                  <a:pt x="0" y="14395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105010" y="7358166"/>
            <a:ext cx="350654" cy="350654"/>
          </a:xfrm>
          <a:custGeom>
            <a:avLst/>
            <a:gdLst/>
            <a:ahLst/>
            <a:cxnLst/>
            <a:rect r="r" b="b" t="t" l="l"/>
            <a:pathLst>
              <a:path h="350654" w="350654">
                <a:moveTo>
                  <a:pt x="0" y="0"/>
                </a:moveTo>
                <a:lnTo>
                  <a:pt x="350655" y="0"/>
                </a:lnTo>
                <a:lnTo>
                  <a:pt x="350655" y="350654"/>
                </a:lnTo>
                <a:lnTo>
                  <a:pt x="0" y="3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9" id="29"/>
          <p:cNvSpPr/>
          <p:nvPr/>
        </p:nvSpPr>
        <p:spPr>
          <a:xfrm>
            <a:off x="9092307" y="2360576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-558" y="1283783"/>
            <a:ext cx="8719121" cy="3346636"/>
            <a:chOff x="0" y="0"/>
            <a:chExt cx="11625495" cy="446218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2476029" y="152296"/>
              <a:ext cx="827187" cy="827187"/>
              <a:chOff x="0" y="0"/>
              <a:chExt cx="826186" cy="82618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26135" cy="826135"/>
              </a:xfrm>
              <a:custGeom>
                <a:avLst/>
                <a:gdLst/>
                <a:ahLst/>
                <a:cxnLst/>
                <a:rect r="r" b="b" t="t" l="l"/>
                <a:pathLst>
                  <a:path h="826135" w="826135">
                    <a:moveTo>
                      <a:pt x="0" y="413131"/>
                    </a:moveTo>
                    <a:cubicBezTo>
                      <a:pt x="0" y="641223"/>
                      <a:pt x="184912" y="826135"/>
                      <a:pt x="413131" y="826135"/>
                    </a:cubicBezTo>
                    <a:cubicBezTo>
                      <a:pt x="641350" y="826135"/>
                      <a:pt x="826135" y="641223"/>
                      <a:pt x="826135" y="413131"/>
                    </a:cubicBezTo>
                    <a:cubicBezTo>
                      <a:pt x="826135" y="185039"/>
                      <a:pt x="641223" y="0"/>
                      <a:pt x="413131" y="0"/>
                    </a:cubicBezTo>
                    <a:cubicBezTo>
                      <a:pt x="185039" y="0"/>
                      <a:pt x="0" y="184912"/>
                      <a:pt x="0" y="413131"/>
                    </a:cubicBezTo>
                  </a:path>
                </a:pathLst>
              </a:custGeom>
              <a:solidFill>
                <a:srgbClr val="E0CB15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467412" y="143680"/>
              <a:ext cx="844419" cy="844419"/>
              <a:chOff x="0" y="0"/>
              <a:chExt cx="843398" cy="84339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43280" cy="843280"/>
              </a:xfrm>
              <a:custGeom>
                <a:avLst/>
                <a:gdLst/>
                <a:ahLst/>
                <a:cxnLst/>
                <a:rect r="r" b="b" t="t" l="l"/>
                <a:pathLst>
                  <a:path h="843280" w="843280">
                    <a:moveTo>
                      <a:pt x="17272" y="421640"/>
                    </a:moveTo>
                    <a:cubicBezTo>
                      <a:pt x="17272" y="645033"/>
                      <a:pt x="198374" y="826135"/>
                      <a:pt x="421767" y="826135"/>
                    </a:cubicBezTo>
                    <a:lnTo>
                      <a:pt x="421767" y="834771"/>
                    </a:lnTo>
                    <a:lnTo>
                      <a:pt x="421767" y="826135"/>
                    </a:lnTo>
                    <a:cubicBezTo>
                      <a:pt x="645160" y="826135"/>
                      <a:pt x="826262" y="645033"/>
                      <a:pt x="826262" y="421640"/>
                    </a:cubicBezTo>
                    <a:lnTo>
                      <a:pt x="834898" y="421640"/>
                    </a:lnTo>
                    <a:lnTo>
                      <a:pt x="826262" y="421640"/>
                    </a:lnTo>
                    <a:cubicBezTo>
                      <a:pt x="826262" y="198247"/>
                      <a:pt x="645160" y="17145"/>
                      <a:pt x="421767" y="17145"/>
                    </a:cubicBezTo>
                    <a:lnTo>
                      <a:pt x="421767" y="8636"/>
                    </a:lnTo>
                    <a:lnTo>
                      <a:pt x="421767" y="17272"/>
                    </a:lnTo>
                    <a:cubicBezTo>
                      <a:pt x="198247" y="17272"/>
                      <a:pt x="17272" y="198247"/>
                      <a:pt x="17272" y="421640"/>
                    </a:cubicBezTo>
                    <a:lnTo>
                      <a:pt x="0" y="421640"/>
                    </a:lnTo>
                    <a:cubicBezTo>
                      <a:pt x="0" y="188849"/>
                      <a:pt x="188849" y="0"/>
                      <a:pt x="421640" y="0"/>
                    </a:cubicBezTo>
                    <a:cubicBezTo>
                      <a:pt x="654431" y="0"/>
                      <a:pt x="843280" y="188849"/>
                      <a:pt x="843280" y="421640"/>
                    </a:cubicBezTo>
                    <a:cubicBezTo>
                      <a:pt x="843280" y="654431"/>
                      <a:pt x="654431" y="843280"/>
                      <a:pt x="421640" y="843280"/>
                    </a:cubicBezTo>
                    <a:cubicBezTo>
                      <a:pt x="188849" y="843280"/>
                      <a:pt x="0" y="654558"/>
                      <a:pt x="0" y="4216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3432465" y="482600"/>
              <a:ext cx="706556" cy="1125890"/>
              <a:chOff x="0" y="0"/>
              <a:chExt cx="705701" cy="112452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-48" y="2540"/>
                <a:ext cx="705787" cy="1113409"/>
              </a:xfrm>
              <a:custGeom>
                <a:avLst/>
                <a:gdLst/>
                <a:ahLst/>
                <a:cxnLst/>
                <a:rect r="r" b="b" t="t" l="l"/>
                <a:pathLst>
                  <a:path h="1113409" w="705787">
                    <a:moveTo>
                      <a:pt x="8684" y="72009"/>
                    </a:moveTo>
                    <a:lnTo>
                      <a:pt x="559483" y="72009"/>
                    </a:lnTo>
                    <a:lnTo>
                      <a:pt x="559483" y="80645"/>
                    </a:lnTo>
                    <a:lnTo>
                      <a:pt x="559483" y="72009"/>
                    </a:lnTo>
                    <a:cubicBezTo>
                      <a:pt x="640255" y="72009"/>
                      <a:pt x="705787" y="137541"/>
                      <a:pt x="705787" y="218313"/>
                    </a:cubicBezTo>
                    <a:lnTo>
                      <a:pt x="688515" y="218313"/>
                    </a:lnTo>
                    <a:cubicBezTo>
                      <a:pt x="688515" y="147066"/>
                      <a:pt x="630730" y="89281"/>
                      <a:pt x="559483" y="89281"/>
                    </a:cubicBezTo>
                    <a:lnTo>
                      <a:pt x="8684" y="89281"/>
                    </a:lnTo>
                    <a:close/>
                    <a:moveTo>
                      <a:pt x="88821" y="12065"/>
                    </a:moveTo>
                    <a:lnTo>
                      <a:pt x="14780" y="87249"/>
                    </a:lnTo>
                    <a:lnTo>
                      <a:pt x="8684" y="81153"/>
                    </a:lnTo>
                    <a:lnTo>
                      <a:pt x="14780" y="75057"/>
                    </a:lnTo>
                    <a:lnTo>
                      <a:pt x="89837" y="149098"/>
                    </a:lnTo>
                    <a:lnTo>
                      <a:pt x="77772" y="161290"/>
                    </a:lnTo>
                    <a:lnTo>
                      <a:pt x="2588" y="87249"/>
                    </a:lnTo>
                    <a:cubicBezTo>
                      <a:pt x="-841" y="83947"/>
                      <a:pt x="-841" y="78486"/>
                      <a:pt x="2461" y="75057"/>
                    </a:cubicBezTo>
                    <a:lnTo>
                      <a:pt x="76629" y="0"/>
                    </a:lnTo>
                    <a:close/>
                    <a:moveTo>
                      <a:pt x="705787" y="218313"/>
                    </a:moveTo>
                    <a:lnTo>
                      <a:pt x="705787" y="1113409"/>
                    </a:lnTo>
                    <a:lnTo>
                      <a:pt x="688515" y="1113409"/>
                    </a:lnTo>
                    <a:lnTo>
                      <a:pt x="688515" y="218313"/>
                    </a:lnTo>
                    <a:close/>
                  </a:path>
                </a:pathLst>
              </a:custGeom>
              <a:solidFill>
                <a:srgbClr val="484848"/>
              </a:solidFill>
            </p:spPr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4880791" y="799295"/>
              <a:ext cx="1670115" cy="1455689"/>
            </a:xfrm>
            <a:custGeom>
              <a:avLst/>
              <a:gdLst/>
              <a:ahLst/>
              <a:cxnLst/>
              <a:rect r="r" b="b" t="t" l="l"/>
              <a:pathLst>
                <a:path h="1455689" w="1670115">
                  <a:moveTo>
                    <a:pt x="0" y="0"/>
                  </a:moveTo>
                  <a:lnTo>
                    <a:pt x="1670115" y="0"/>
                  </a:lnTo>
                  <a:lnTo>
                    <a:pt x="1670115" y="1455689"/>
                  </a:lnTo>
                  <a:lnTo>
                    <a:pt x="0" y="145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121788" y="706628"/>
              <a:ext cx="3325983" cy="1659376"/>
            </a:xfrm>
            <a:custGeom>
              <a:avLst/>
              <a:gdLst/>
              <a:ahLst/>
              <a:cxnLst/>
              <a:rect r="r" b="b" t="t" l="l"/>
              <a:pathLst>
                <a:path h="1659376" w="3325983">
                  <a:moveTo>
                    <a:pt x="0" y="0"/>
                  </a:moveTo>
                  <a:lnTo>
                    <a:pt x="3325984" y="0"/>
                  </a:lnTo>
                  <a:lnTo>
                    <a:pt x="3325984" y="1659375"/>
                  </a:lnTo>
                  <a:lnTo>
                    <a:pt x="0" y="1659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5047422" y="798101"/>
              <a:ext cx="1310782" cy="2131984"/>
            </a:xfrm>
            <a:custGeom>
              <a:avLst/>
              <a:gdLst/>
              <a:ahLst/>
              <a:cxnLst/>
              <a:rect r="r" b="b" t="t" l="l"/>
              <a:pathLst>
                <a:path h="2131984" w="1310782">
                  <a:moveTo>
                    <a:pt x="0" y="0"/>
                  </a:moveTo>
                  <a:lnTo>
                    <a:pt x="1310783" y="0"/>
                  </a:lnTo>
                  <a:lnTo>
                    <a:pt x="1310783" y="2131984"/>
                  </a:lnTo>
                  <a:lnTo>
                    <a:pt x="0" y="2131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5038809" y="789487"/>
              <a:ext cx="1328016" cy="2149220"/>
            </a:xfrm>
            <a:custGeom>
              <a:avLst/>
              <a:gdLst/>
              <a:ahLst/>
              <a:cxnLst/>
              <a:rect r="r" b="b" t="t" l="l"/>
              <a:pathLst>
                <a:path h="2149220" w="1328016">
                  <a:moveTo>
                    <a:pt x="0" y="0"/>
                  </a:moveTo>
                  <a:lnTo>
                    <a:pt x="1328016" y="0"/>
                  </a:lnTo>
                  <a:lnTo>
                    <a:pt x="1328016" y="2149220"/>
                  </a:lnTo>
                  <a:lnTo>
                    <a:pt x="0" y="2149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969081" y="2965585"/>
              <a:ext cx="2590707" cy="1483491"/>
            </a:xfrm>
            <a:custGeom>
              <a:avLst/>
              <a:gdLst/>
              <a:ahLst/>
              <a:cxnLst/>
              <a:rect r="r" b="b" t="t" l="l"/>
              <a:pathLst>
                <a:path h="1483491" w="2590707">
                  <a:moveTo>
                    <a:pt x="0" y="0"/>
                  </a:moveTo>
                  <a:lnTo>
                    <a:pt x="2590707" y="0"/>
                  </a:lnTo>
                  <a:lnTo>
                    <a:pt x="2590707" y="1483492"/>
                  </a:lnTo>
                  <a:lnTo>
                    <a:pt x="0" y="1483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960465" y="2956972"/>
              <a:ext cx="2607939" cy="1500724"/>
            </a:xfrm>
            <a:custGeom>
              <a:avLst/>
              <a:gdLst/>
              <a:ahLst/>
              <a:cxnLst/>
              <a:rect r="r" b="b" t="t" l="l"/>
              <a:pathLst>
                <a:path h="1500724" w="2607939">
                  <a:moveTo>
                    <a:pt x="0" y="0"/>
                  </a:moveTo>
                  <a:lnTo>
                    <a:pt x="2607939" y="0"/>
                  </a:lnTo>
                  <a:lnTo>
                    <a:pt x="2607939" y="1500724"/>
                  </a:lnTo>
                  <a:lnTo>
                    <a:pt x="0" y="1500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>
                <a:extLs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141413" y="1306936"/>
              <a:ext cx="1711819" cy="1857864"/>
            </a:xfrm>
            <a:custGeom>
              <a:avLst/>
              <a:gdLst/>
              <a:ahLst/>
              <a:cxnLst/>
              <a:rect r="r" b="b" t="t" l="l"/>
              <a:pathLst>
                <a:path h="1857864" w="1711819">
                  <a:moveTo>
                    <a:pt x="0" y="0"/>
                  </a:moveTo>
                  <a:lnTo>
                    <a:pt x="1711819" y="0"/>
                  </a:lnTo>
                  <a:lnTo>
                    <a:pt x="1711819" y="1857863"/>
                  </a:lnTo>
                  <a:lnTo>
                    <a:pt x="0" y="1857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5132796" y="1298324"/>
              <a:ext cx="1729051" cy="1875093"/>
            </a:xfrm>
            <a:custGeom>
              <a:avLst/>
              <a:gdLst/>
              <a:ahLst/>
              <a:cxnLst/>
              <a:rect r="r" b="b" t="t" l="l"/>
              <a:pathLst>
                <a:path h="1875093" w="1729051">
                  <a:moveTo>
                    <a:pt x="0" y="0"/>
                  </a:moveTo>
                  <a:lnTo>
                    <a:pt x="1729051" y="0"/>
                  </a:lnTo>
                  <a:lnTo>
                    <a:pt x="1729051" y="1875093"/>
                  </a:lnTo>
                  <a:lnTo>
                    <a:pt x="0" y="1875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5" id="45"/>
            <p:cNvGrpSpPr/>
            <p:nvPr/>
          </p:nvGrpSpPr>
          <p:grpSpPr>
            <a:xfrm rot="0">
              <a:off x="8128480" y="1220747"/>
              <a:ext cx="827187" cy="827187"/>
              <a:chOff x="0" y="0"/>
              <a:chExt cx="826186" cy="82618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26135" cy="826135"/>
              </a:xfrm>
              <a:custGeom>
                <a:avLst/>
                <a:gdLst/>
                <a:ahLst/>
                <a:cxnLst/>
                <a:rect r="r" b="b" t="t" l="l"/>
                <a:pathLst>
                  <a:path h="826135" w="826135">
                    <a:moveTo>
                      <a:pt x="0" y="413131"/>
                    </a:moveTo>
                    <a:cubicBezTo>
                      <a:pt x="0" y="641223"/>
                      <a:pt x="184912" y="826135"/>
                      <a:pt x="413131" y="826135"/>
                    </a:cubicBezTo>
                    <a:cubicBezTo>
                      <a:pt x="641350" y="826135"/>
                      <a:pt x="826135" y="641223"/>
                      <a:pt x="826135" y="413131"/>
                    </a:cubicBezTo>
                    <a:cubicBezTo>
                      <a:pt x="826135" y="185039"/>
                      <a:pt x="641223" y="0"/>
                      <a:pt x="413131" y="0"/>
                    </a:cubicBezTo>
                    <a:cubicBezTo>
                      <a:pt x="185039" y="0"/>
                      <a:pt x="0" y="184912"/>
                      <a:pt x="0" y="413131"/>
                    </a:cubicBezTo>
                  </a:path>
                </a:pathLst>
              </a:custGeom>
              <a:solidFill>
                <a:srgbClr val="DE8431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8119864" y="1212131"/>
              <a:ext cx="844419" cy="844419"/>
              <a:chOff x="0" y="0"/>
              <a:chExt cx="843398" cy="843398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43280" cy="843280"/>
              </a:xfrm>
              <a:custGeom>
                <a:avLst/>
                <a:gdLst/>
                <a:ahLst/>
                <a:cxnLst/>
                <a:rect r="r" b="b" t="t" l="l"/>
                <a:pathLst>
                  <a:path h="843280" w="843280">
                    <a:moveTo>
                      <a:pt x="17272" y="421640"/>
                    </a:moveTo>
                    <a:cubicBezTo>
                      <a:pt x="17272" y="645033"/>
                      <a:pt x="198374" y="826135"/>
                      <a:pt x="421767" y="826135"/>
                    </a:cubicBezTo>
                    <a:lnTo>
                      <a:pt x="421767" y="834771"/>
                    </a:lnTo>
                    <a:lnTo>
                      <a:pt x="421767" y="826135"/>
                    </a:lnTo>
                    <a:cubicBezTo>
                      <a:pt x="645160" y="826135"/>
                      <a:pt x="826262" y="645033"/>
                      <a:pt x="826262" y="421640"/>
                    </a:cubicBezTo>
                    <a:lnTo>
                      <a:pt x="834898" y="421640"/>
                    </a:lnTo>
                    <a:lnTo>
                      <a:pt x="826262" y="421640"/>
                    </a:lnTo>
                    <a:cubicBezTo>
                      <a:pt x="826262" y="198247"/>
                      <a:pt x="645160" y="17145"/>
                      <a:pt x="421767" y="17145"/>
                    </a:cubicBezTo>
                    <a:lnTo>
                      <a:pt x="421767" y="8636"/>
                    </a:lnTo>
                    <a:lnTo>
                      <a:pt x="421767" y="17272"/>
                    </a:lnTo>
                    <a:cubicBezTo>
                      <a:pt x="198247" y="17272"/>
                      <a:pt x="17272" y="198247"/>
                      <a:pt x="17272" y="421640"/>
                    </a:cubicBezTo>
                    <a:lnTo>
                      <a:pt x="0" y="421640"/>
                    </a:lnTo>
                    <a:cubicBezTo>
                      <a:pt x="0" y="188849"/>
                      <a:pt x="188849" y="0"/>
                      <a:pt x="421640" y="0"/>
                    </a:cubicBezTo>
                    <a:cubicBezTo>
                      <a:pt x="654431" y="0"/>
                      <a:pt x="843280" y="188849"/>
                      <a:pt x="843280" y="421640"/>
                    </a:cubicBezTo>
                    <a:cubicBezTo>
                      <a:pt x="843280" y="654431"/>
                      <a:pt x="654431" y="843280"/>
                      <a:pt x="421640" y="843280"/>
                    </a:cubicBezTo>
                    <a:cubicBezTo>
                      <a:pt x="188849" y="843280"/>
                      <a:pt x="0" y="654558"/>
                      <a:pt x="0" y="4216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7430541" y="1551048"/>
              <a:ext cx="568706" cy="166582"/>
              <a:chOff x="0" y="0"/>
              <a:chExt cx="568018" cy="1663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8636" y="19812"/>
                <a:ext cx="559308" cy="149098"/>
              </a:xfrm>
              <a:custGeom>
                <a:avLst/>
                <a:gdLst/>
                <a:ahLst/>
                <a:cxnLst/>
                <a:rect r="r" b="b" t="t" l="l"/>
                <a:pathLst>
                  <a:path h="149098" w="559308">
                    <a:moveTo>
                      <a:pt x="0" y="54737"/>
                    </a:moveTo>
                    <a:lnTo>
                      <a:pt x="550799" y="54737"/>
                    </a:lnTo>
                    <a:lnTo>
                      <a:pt x="550799" y="72009"/>
                    </a:lnTo>
                    <a:lnTo>
                      <a:pt x="0" y="72009"/>
                    </a:lnTo>
                    <a:close/>
                    <a:moveTo>
                      <a:pt x="470662" y="149098"/>
                    </a:moveTo>
                    <a:lnTo>
                      <a:pt x="544703" y="74041"/>
                    </a:lnTo>
                    <a:lnTo>
                      <a:pt x="550799" y="80137"/>
                    </a:lnTo>
                    <a:lnTo>
                      <a:pt x="544703" y="86233"/>
                    </a:lnTo>
                    <a:lnTo>
                      <a:pt x="469646" y="12192"/>
                    </a:lnTo>
                    <a:lnTo>
                      <a:pt x="481711" y="0"/>
                    </a:lnTo>
                    <a:lnTo>
                      <a:pt x="556768" y="74041"/>
                    </a:lnTo>
                    <a:cubicBezTo>
                      <a:pt x="558419" y="75692"/>
                      <a:pt x="559308" y="77851"/>
                      <a:pt x="559308" y="80137"/>
                    </a:cubicBezTo>
                    <a:cubicBezTo>
                      <a:pt x="559308" y="82423"/>
                      <a:pt x="558419" y="84582"/>
                      <a:pt x="556768" y="86233"/>
                    </a:cubicBezTo>
                    <a:lnTo>
                      <a:pt x="482854" y="144018"/>
                    </a:lnTo>
                    <a:close/>
                  </a:path>
                </a:pathLst>
              </a:custGeom>
              <a:solidFill>
                <a:srgbClr val="484848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2476029" y="1806672"/>
              <a:ext cx="827187" cy="827187"/>
              <a:chOff x="0" y="0"/>
              <a:chExt cx="826186" cy="82618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26135" cy="826135"/>
              </a:xfrm>
              <a:custGeom>
                <a:avLst/>
                <a:gdLst/>
                <a:ahLst/>
                <a:cxnLst/>
                <a:rect r="r" b="b" t="t" l="l"/>
                <a:pathLst>
                  <a:path h="826135" w="826135">
                    <a:moveTo>
                      <a:pt x="0" y="413131"/>
                    </a:moveTo>
                    <a:cubicBezTo>
                      <a:pt x="0" y="641223"/>
                      <a:pt x="184912" y="826135"/>
                      <a:pt x="413131" y="826135"/>
                    </a:cubicBezTo>
                    <a:cubicBezTo>
                      <a:pt x="641350" y="826135"/>
                      <a:pt x="826135" y="641223"/>
                      <a:pt x="826135" y="413131"/>
                    </a:cubicBezTo>
                    <a:cubicBezTo>
                      <a:pt x="826135" y="185039"/>
                      <a:pt x="641223" y="0"/>
                      <a:pt x="413131" y="0"/>
                    </a:cubicBezTo>
                    <a:cubicBezTo>
                      <a:pt x="185039" y="0"/>
                      <a:pt x="0" y="184912"/>
                      <a:pt x="0" y="413131"/>
                    </a:cubicBezTo>
                  </a:path>
                </a:pathLst>
              </a:custGeom>
              <a:solidFill>
                <a:srgbClr val="E55753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2467412" y="1798056"/>
              <a:ext cx="844419" cy="844419"/>
              <a:chOff x="0" y="0"/>
              <a:chExt cx="843398" cy="843398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43280" cy="843280"/>
              </a:xfrm>
              <a:custGeom>
                <a:avLst/>
                <a:gdLst/>
                <a:ahLst/>
                <a:cxnLst/>
                <a:rect r="r" b="b" t="t" l="l"/>
                <a:pathLst>
                  <a:path h="843280" w="843280">
                    <a:moveTo>
                      <a:pt x="17272" y="421640"/>
                    </a:moveTo>
                    <a:cubicBezTo>
                      <a:pt x="17272" y="645033"/>
                      <a:pt x="198374" y="826135"/>
                      <a:pt x="421767" y="826135"/>
                    </a:cubicBezTo>
                    <a:lnTo>
                      <a:pt x="421767" y="834771"/>
                    </a:lnTo>
                    <a:lnTo>
                      <a:pt x="421767" y="826135"/>
                    </a:lnTo>
                    <a:cubicBezTo>
                      <a:pt x="645160" y="826135"/>
                      <a:pt x="826262" y="645033"/>
                      <a:pt x="826262" y="421640"/>
                    </a:cubicBezTo>
                    <a:lnTo>
                      <a:pt x="834898" y="421640"/>
                    </a:lnTo>
                    <a:lnTo>
                      <a:pt x="826262" y="421640"/>
                    </a:lnTo>
                    <a:cubicBezTo>
                      <a:pt x="826262" y="198247"/>
                      <a:pt x="645160" y="17145"/>
                      <a:pt x="421767" y="17145"/>
                    </a:cubicBezTo>
                    <a:lnTo>
                      <a:pt x="421767" y="8636"/>
                    </a:lnTo>
                    <a:lnTo>
                      <a:pt x="421767" y="17272"/>
                    </a:lnTo>
                    <a:cubicBezTo>
                      <a:pt x="198247" y="17272"/>
                      <a:pt x="17272" y="198247"/>
                      <a:pt x="17272" y="421640"/>
                    </a:cubicBezTo>
                    <a:lnTo>
                      <a:pt x="0" y="421640"/>
                    </a:lnTo>
                    <a:cubicBezTo>
                      <a:pt x="0" y="188849"/>
                      <a:pt x="188849" y="0"/>
                      <a:pt x="421640" y="0"/>
                    </a:cubicBezTo>
                    <a:cubicBezTo>
                      <a:pt x="654431" y="0"/>
                      <a:pt x="843280" y="188849"/>
                      <a:pt x="843280" y="421640"/>
                    </a:cubicBezTo>
                    <a:cubicBezTo>
                      <a:pt x="843280" y="654431"/>
                      <a:pt x="654431" y="843280"/>
                      <a:pt x="421640" y="843280"/>
                    </a:cubicBezTo>
                    <a:cubicBezTo>
                      <a:pt x="188849" y="843280"/>
                      <a:pt x="0" y="654558"/>
                      <a:pt x="0" y="4216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3432471" y="1591259"/>
              <a:ext cx="706560" cy="712296"/>
              <a:chOff x="0" y="0"/>
              <a:chExt cx="705705" cy="71143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79" y="8636"/>
                <a:ext cx="705660" cy="717550"/>
              </a:xfrm>
              <a:custGeom>
                <a:avLst/>
                <a:gdLst/>
                <a:ahLst/>
                <a:cxnLst/>
                <a:rect r="r" b="b" t="t" l="l"/>
                <a:pathLst>
                  <a:path h="717550" w="705660">
                    <a:moveTo>
                      <a:pt x="8557" y="610997"/>
                    </a:moveTo>
                    <a:lnTo>
                      <a:pt x="559356" y="610997"/>
                    </a:lnTo>
                    <a:lnTo>
                      <a:pt x="559356" y="619633"/>
                    </a:lnTo>
                    <a:lnTo>
                      <a:pt x="559356" y="610997"/>
                    </a:lnTo>
                    <a:cubicBezTo>
                      <a:pt x="630603" y="610997"/>
                      <a:pt x="688388" y="553212"/>
                      <a:pt x="688388" y="481965"/>
                    </a:cubicBezTo>
                    <a:lnTo>
                      <a:pt x="705660" y="481965"/>
                    </a:lnTo>
                    <a:cubicBezTo>
                      <a:pt x="705660" y="562737"/>
                      <a:pt x="640128" y="628269"/>
                      <a:pt x="559356" y="628269"/>
                    </a:cubicBezTo>
                    <a:lnTo>
                      <a:pt x="8557" y="628269"/>
                    </a:lnTo>
                    <a:close/>
                    <a:moveTo>
                      <a:pt x="76502" y="717550"/>
                    </a:moveTo>
                    <a:lnTo>
                      <a:pt x="2461" y="625094"/>
                    </a:lnTo>
                    <a:cubicBezTo>
                      <a:pt x="-841" y="621665"/>
                      <a:pt x="-841" y="616204"/>
                      <a:pt x="2588" y="612902"/>
                    </a:cubicBezTo>
                    <a:lnTo>
                      <a:pt x="77645" y="538861"/>
                    </a:lnTo>
                    <a:lnTo>
                      <a:pt x="89710" y="551053"/>
                    </a:lnTo>
                    <a:lnTo>
                      <a:pt x="14653" y="625094"/>
                    </a:lnTo>
                    <a:lnTo>
                      <a:pt x="8557" y="618998"/>
                    </a:lnTo>
                    <a:lnTo>
                      <a:pt x="14653" y="612902"/>
                    </a:lnTo>
                    <a:lnTo>
                      <a:pt x="88694" y="687959"/>
                    </a:lnTo>
                    <a:close/>
                    <a:moveTo>
                      <a:pt x="705660" y="0"/>
                    </a:moveTo>
                    <a:lnTo>
                      <a:pt x="705660" y="481965"/>
                    </a:lnTo>
                    <a:lnTo>
                      <a:pt x="688388" y="481965"/>
                    </a:lnTo>
                    <a:lnTo>
                      <a:pt x="688388" y="0"/>
                    </a:lnTo>
                    <a:close/>
                  </a:path>
                </a:pathLst>
              </a:custGeom>
              <a:solidFill>
                <a:srgbClr val="484848"/>
              </a:solidFill>
            </p:spPr>
          </p:sp>
        </p:grpSp>
        <p:sp>
          <p:nvSpPr>
            <p:cNvPr name="TextBox 57" id="57"/>
            <p:cNvSpPr txBox="true"/>
            <p:nvPr/>
          </p:nvSpPr>
          <p:spPr>
            <a:xfrm rot="0">
              <a:off x="4585224" y="0"/>
              <a:ext cx="2979239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375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# Feasibility #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368289" y="145728"/>
              <a:ext cx="202139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4"/>
                </a:lnSpc>
              </a:pPr>
              <a:r>
                <a:rPr lang="en-US" sz="1495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# Technically</a:t>
              </a:r>
            </a:p>
            <a:p>
              <a:pPr algn="r">
                <a:lnSpc>
                  <a:spcPts val="1794"/>
                </a:lnSpc>
              </a:pPr>
              <a:r>
                <a:rPr lang="en-US" sz="1495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Feasible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978574"/>
              <a:ext cx="4033811" cy="2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37"/>
                </a:lnSpc>
              </a:pPr>
              <a:r>
                <a:rPr lang="en-US" sz="1281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off-the-shelf hardware + proven crypto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9079511" y="1066047"/>
              <a:ext cx="2545983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495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# Security Feasible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697390" y="2707243"/>
              <a:ext cx="3336421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4"/>
                </a:lnSpc>
              </a:pPr>
              <a:r>
                <a:rPr lang="en-US" sz="1495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# Operationally Feasible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9230983" y="1465349"/>
              <a:ext cx="2344055" cy="441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5"/>
                </a:lnSpc>
              </a:pPr>
              <a:r>
                <a:rPr lang="en-US" sz="1121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Hardware co-signing kills double-spend offline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959037" y="3088704"/>
              <a:ext cx="3626187" cy="441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45"/>
                </a:lnSpc>
              </a:pPr>
              <a:r>
                <a:rPr lang="en-US" sz="1121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₹2,000 cap + stateless backend = low‑cost scale.</a:t>
              </a:r>
            </a:p>
          </p:txBody>
        </p:sp>
        <p:sp>
          <p:nvSpPr>
            <p:cNvPr name="Freeform 64" id="64"/>
            <p:cNvSpPr/>
            <p:nvPr/>
          </p:nvSpPr>
          <p:spPr>
            <a:xfrm flipH="false" flipV="false" rot="0">
              <a:off x="2605277" y="281545"/>
              <a:ext cx="551457" cy="519288"/>
            </a:xfrm>
            <a:custGeom>
              <a:avLst/>
              <a:gdLst/>
              <a:ahLst/>
              <a:cxnLst/>
              <a:rect r="r" b="b" t="t" l="l"/>
              <a:pathLst>
                <a:path h="519288" w="551457">
                  <a:moveTo>
                    <a:pt x="0" y="0"/>
                  </a:moveTo>
                  <a:lnTo>
                    <a:pt x="551457" y="0"/>
                  </a:lnTo>
                  <a:lnTo>
                    <a:pt x="551457" y="519288"/>
                  </a:lnTo>
                  <a:lnTo>
                    <a:pt x="0" y="519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8269217" y="1361484"/>
              <a:ext cx="545713" cy="545713"/>
            </a:xfrm>
            <a:custGeom>
              <a:avLst/>
              <a:gdLst/>
              <a:ahLst/>
              <a:cxnLst/>
              <a:rect r="r" b="b" t="t" l="l"/>
              <a:pathLst>
                <a:path h="545713" w="545713">
                  <a:moveTo>
                    <a:pt x="0" y="0"/>
                  </a:moveTo>
                  <a:lnTo>
                    <a:pt x="545713" y="0"/>
                  </a:lnTo>
                  <a:lnTo>
                    <a:pt x="545713" y="545713"/>
                  </a:lnTo>
                  <a:lnTo>
                    <a:pt x="0" y="545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>
                <a:extLst>
                  <a:ext uri="{96DAC541-7B7A-43D3-8B79-37D633B846F1}">
                    <asvg:svgBlip xmlns:asvg="http://schemas.microsoft.com/office/drawing/2016/SVG/main" r:embed="rId5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605277" y="1935921"/>
              <a:ext cx="548007" cy="530644"/>
            </a:xfrm>
            <a:custGeom>
              <a:avLst/>
              <a:gdLst/>
              <a:ahLst/>
              <a:cxnLst/>
              <a:rect r="r" b="b" t="t" l="l"/>
              <a:pathLst>
                <a:path h="530644" w="548007">
                  <a:moveTo>
                    <a:pt x="0" y="0"/>
                  </a:moveTo>
                  <a:lnTo>
                    <a:pt x="548007" y="0"/>
                  </a:lnTo>
                  <a:lnTo>
                    <a:pt x="548007" y="530644"/>
                  </a:lnTo>
                  <a:lnTo>
                    <a:pt x="0" y="530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>
                <a:extLst>
                  <a:ext uri="{96DAC541-7B7A-43D3-8B79-37D633B846F1}">
                    <asvg:svgBlip xmlns:asvg="http://schemas.microsoft.com/office/drawing/2016/SVG/main" r:embed="rId5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67" id="67"/>
            <p:cNvSpPr/>
            <p:nvPr/>
          </p:nvSpPr>
          <p:spPr>
            <a:xfrm>
              <a:off x="2176037" y="4436781"/>
              <a:ext cx="865632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75658" y="-465399"/>
            <a:ext cx="16459200" cy="1714500"/>
            <a:chOff x="0" y="0"/>
            <a:chExt cx="21945600" cy="2286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70" id="70"/>
            <p:cNvSpPr txBox="true"/>
            <p:nvPr/>
          </p:nvSpPr>
          <p:spPr>
            <a:xfrm>
              <a:off x="0" y="9525"/>
              <a:ext cx="21945600" cy="227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FEASIBILITY AND VIABILITY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32597" y="1028700"/>
            <a:ext cx="8405156" cy="4800476"/>
            <a:chOff x="0" y="0"/>
            <a:chExt cx="11206875" cy="640063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1608774"/>
              <a:ext cx="2598305" cy="2583855"/>
            </a:xfrm>
            <a:custGeom>
              <a:avLst/>
              <a:gdLst/>
              <a:ahLst/>
              <a:cxnLst/>
              <a:rect r="r" b="b" t="t" l="l"/>
              <a:pathLst>
                <a:path h="2583855" w="2598305">
                  <a:moveTo>
                    <a:pt x="0" y="0"/>
                  </a:moveTo>
                  <a:lnTo>
                    <a:pt x="2598305" y="0"/>
                  </a:lnTo>
                  <a:lnTo>
                    <a:pt x="2598305" y="2583855"/>
                  </a:lnTo>
                  <a:lnTo>
                    <a:pt x="0" y="2583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5">
                <a:extLst>
                  <a:ext uri="{96DAC541-7B7A-43D3-8B79-37D633B846F1}">
                    <asvg:svgBlip xmlns:asvg="http://schemas.microsoft.com/office/drawing/2016/SVG/main" r:embed="rId5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3" id="73"/>
            <p:cNvGrpSpPr/>
            <p:nvPr/>
          </p:nvGrpSpPr>
          <p:grpSpPr>
            <a:xfrm rot="0">
              <a:off x="1296964" y="3942551"/>
              <a:ext cx="1652767" cy="1853993"/>
              <a:chOff x="0" y="0"/>
              <a:chExt cx="1872483" cy="2100459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872488" cy="2100453"/>
              </a:xfrm>
              <a:custGeom>
                <a:avLst/>
                <a:gdLst/>
                <a:ahLst/>
                <a:cxnLst/>
                <a:rect r="r" b="b" t="t" l="l"/>
                <a:pathLst>
                  <a:path h="2100453" w="1872488">
                    <a:moveTo>
                      <a:pt x="1872488" y="2011807"/>
                    </a:moveTo>
                    <a:cubicBezTo>
                      <a:pt x="1872488" y="1962785"/>
                      <a:pt x="1832610" y="1923161"/>
                      <a:pt x="1783334" y="1923161"/>
                    </a:cubicBezTo>
                    <a:cubicBezTo>
                      <a:pt x="1734058" y="1923161"/>
                      <a:pt x="1694180" y="1962912"/>
                      <a:pt x="1694180" y="2011807"/>
                    </a:cubicBezTo>
                    <a:cubicBezTo>
                      <a:pt x="1694180" y="2060702"/>
                      <a:pt x="1734058" y="2100453"/>
                      <a:pt x="1783334" y="2100453"/>
                    </a:cubicBezTo>
                    <a:cubicBezTo>
                      <a:pt x="1832610" y="2100453"/>
                      <a:pt x="1872488" y="2060702"/>
                      <a:pt x="1872488" y="2011807"/>
                    </a:cubicBezTo>
                    <a:moveTo>
                      <a:pt x="2540" y="280289"/>
                    </a:moveTo>
                    <a:cubicBezTo>
                      <a:pt x="325755" y="280289"/>
                      <a:pt x="624586" y="176276"/>
                      <a:pt x="867029" y="0"/>
                    </a:cubicBezTo>
                    <a:lnTo>
                      <a:pt x="1470660" y="826262"/>
                    </a:lnTo>
                    <a:cubicBezTo>
                      <a:pt x="1058164" y="1125728"/>
                      <a:pt x="549783" y="1302385"/>
                      <a:pt x="0" y="1302385"/>
                    </a:cubicBezTo>
                    <a:lnTo>
                      <a:pt x="2540" y="280289"/>
                    </a:lnTo>
                  </a:path>
                </a:pathLst>
              </a:custGeom>
              <a:gradFill rotWithShape="true">
                <a:gsLst>
                  <a:gs pos="0">
                    <a:srgbClr val="FFBF84">
                      <a:alpha val="100000"/>
                    </a:srgbClr>
                  </a:gs>
                  <a:gs pos="100000">
                    <a:srgbClr val="F99539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name="Freeform 75" id="75"/>
            <p:cNvSpPr/>
            <p:nvPr/>
          </p:nvSpPr>
          <p:spPr>
            <a:xfrm flipH="false" flipV="false" rot="0">
              <a:off x="1292045" y="3937659"/>
              <a:ext cx="1662605" cy="1863773"/>
            </a:xfrm>
            <a:custGeom>
              <a:avLst/>
              <a:gdLst/>
              <a:ahLst/>
              <a:cxnLst/>
              <a:rect r="r" b="b" t="t" l="l"/>
              <a:pathLst>
                <a:path h="1863773" w="1662605">
                  <a:moveTo>
                    <a:pt x="0" y="0"/>
                  </a:moveTo>
                  <a:lnTo>
                    <a:pt x="1662605" y="0"/>
                  </a:lnTo>
                  <a:lnTo>
                    <a:pt x="1662605" y="1863773"/>
                  </a:lnTo>
                  <a:lnTo>
                    <a:pt x="0" y="1863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7"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6" id="76"/>
            <p:cNvGrpSpPr/>
            <p:nvPr/>
          </p:nvGrpSpPr>
          <p:grpSpPr>
            <a:xfrm rot="0">
              <a:off x="2062201" y="3296271"/>
              <a:ext cx="1989375" cy="1375550"/>
              <a:chOff x="0" y="0"/>
              <a:chExt cx="2253838" cy="1558412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253869" cy="1558417"/>
              </a:xfrm>
              <a:custGeom>
                <a:avLst/>
                <a:gdLst/>
                <a:ahLst/>
                <a:cxnLst/>
                <a:rect r="r" b="b" t="t" l="l"/>
                <a:pathLst>
                  <a:path h="1558417" w="2253869">
                    <a:moveTo>
                      <a:pt x="2253869" y="1147953"/>
                    </a:moveTo>
                    <a:cubicBezTo>
                      <a:pt x="2253869" y="1098931"/>
                      <a:pt x="2213991" y="1059307"/>
                      <a:pt x="2164715" y="1059307"/>
                    </a:cubicBezTo>
                    <a:cubicBezTo>
                      <a:pt x="2115439" y="1059307"/>
                      <a:pt x="2075561" y="1099058"/>
                      <a:pt x="2075561" y="1147953"/>
                    </a:cubicBezTo>
                    <a:cubicBezTo>
                      <a:pt x="2075561" y="1196848"/>
                      <a:pt x="2115439" y="1236599"/>
                      <a:pt x="2164715" y="1236599"/>
                    </a:cubicBezTo>
                    <a:cubicBezTo>
                      <a:pt x="2213991" y="1236599"/>
                      <a:pt x="2253869" y="1196848"/>
                      <a:pt x="2253869" y="1147953"/>
                    </a:cubicBezTo>
                    <a:moveTo>
                      <a:pt x="603631" y="1558417"/>
                    </a:moveTo>
                    <a:lnTo>
                      <a:pt x="0" y="732155"/>
                    </a:lnTo>
                    <a:cubicBezTo>
                      <a:pt x="247650" y="552196"/>
                      <a:pt x="436372" y="296799"/>
                      <a:pt x="532003" y="0"/>
                    </a:cubicBezTo>
                    <a:lnTo>
                      <a:pt x="1509268" y="315722"/>
                    </a:lnTo>
                    <a:cubicBezTo>
                      <a:pt x="1429131" y="562610"/>
                      <a:pt x="1311148" y="792480"/>
                      <a:pt x="1162050" y="998728"/>
                    </a:cubicBezTo>
                    <a:cubicBezTo>
                      <a:pt x="1006983" y="1213485"/>
                      <a:pt x="818261" y="1402461"/>
                      <a:pt x="603631" y="1558417"/>
                    </a:cubicBezTo>
                  </a:path>
                </a:pathLst>
              </a:custGeom>
              <a:gradFill rotWithShape="true">
                <a:gsLst>
                  <a:gs pos="0">
                    <a:srgbClr val="FFEF63">
                      <a:alpha val="100000"/>
                    </a:srgbClr>
                  </a:gs>
                  <a:gs pos="100000">
                    <a:srgbClr val="FFE60A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name="Freeform 78" id="78"/>
            <p:cNvSpPr/>
            <p:nvPr/>
          </p:nvSpPr>
          <p:spPr>
            <a:xfrm flipH="false" flipV="false" rot="0">
              <a:off x="2057283" y="3291379"/>
              <a:ext cx="1999215" cy="1385331"/>
            </a:xfrm>
            <a:custGeom>
              <a:avLst/>
              <a:gdLst/>
              <a:ahLst/>
              <a:cxnLst/>
              <a:rect r="r" b="b" t="t" l="l"/>
              <a:pathLst>
                <a:path h="1385331" w="1999215">
                  <a:moveTo>
                    <a:pt x="0" y="0"/>
                  </a:moveTo>
                  <a:lnTo>
                    <a:pt x="1999215" y="0"/>
                  </a:lnTo>
                  <a:lnTo>
                    <a:pt x="1999215" y="1385331"/>
                  </a:lnTo>
                  <a:lnTo>
                    <a:pt x="0" y="138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>
                <a:extLst>
                  <a:ext uri="{96DAC541-7B7A-43D3-8B79-37D633B846F1}">
                    <asvg:svgBlip xmlns:asvg="http://schemas.microsoft.com/office/drawing/2016/SVG/main" r:embed="rId6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9" id="79"/>
            <p:cNvGrpSpPr/>
            <p:nvPr/>
          </p:nvGrpSpPr>
          <p:grpSpPr>
            <a:xfrm rot="0">
              <a:off x="2528493" y="2220224"/>
              <a:ext cx="1791987" cy="1354763"/>
              <a:chOff x="0" y="0"/>
              <a:chExt cx="2030209" cy="1534862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030222" cy="1534922"/>
              </a:xfrm>
              <a:custGeom>
                <a:avLst/>
                <a:gdLst/>
                <a:ahLst/>
                <a:cxnLst/>
                <a:rect r="r" b="b" t="t" l="l"/>
                <a:pathLst>
                  <a:path h="1534922" w="2030222">
                    <a:moveTo>
                      <a:pt x="2030222" y="771017"/>
                    </a:moveTo>
                    <a:cubicBezTo>
                      <a:pt x="2030222" y="820039"/>
                      <a:pt x="1990344" y="859663"/>
                      <a:pt x="1941068" y="859663"/>
                    </a:cubicBezTo>
                    <a:cubicBezTo>
                      <a:pt x="1891792" y="859663"/>
                      <a:pt x="1851914" y="819912"/>
                      <a:pt x="1851914" y="771017"/>
                    </a:cubicBezTo>
                    <a:cubicBezTo>
                      <a:pt x="1851914" y="722122"/>
                      <a:pt x="1891792" y="682371"/>
                      <a:pt x="1941068" y="682371"/>
                    </a:cubicBezTo>
                    <a:cubicBezTo>
                      <a:pt x="1990344" y="682371"/>
                      <a:pt x="2030222" y="722122"/>
                      <a:pt x="2030222" y="771017"/>
                    </a:cubicBezTo>
                    <a:moveTo>
                      <a:pt x="3810" y="1219073"/>
                    </a:moveTo>
                    <a:cubicBezTo>
                      <a:pt x="49022" y="1078611"/>
                      <a:pt x="73533" y="928878"/>
                      <a:pt x="73533" y="773430"/>
                    </a:cubicBezTo>
                    <a:cubicBezTo>
                      <a:pt x="73533" y="613791"/>
                      <a:pt x="47752" y="459994"/>
                      <a:pt x="0" y="316230"/>
                    </a:cubicBezTo>
                    <a:lnTo>
                      <a:pt x="978662" y="0"/>
                    </a:lnTo>
                    <a:cubicBezTo>
                      <a:pt x="1058291" y="242697"/>
                      <a:pt x="1101344" y="501777"/>
                      <a:pt x="1101344" y="771017"/>
                    </a:cubicBezTo>
                    <a:cubicBezTo>
                      <a:pt x="1101344" y="1037590"/>
                      <a:pt x="1059053" y="1294257"/>
                      <a:pt x="980948" y="1534922"/>
                    </a:cubicBezTo>
                    <a:lnTo>
                      <a:pt x="3810" y="1219073"/>
                    </a:lnTo>
                  </a:path>
                </a:pathLst>
              </a:custGeom>
              <a:gradFill rotWithShape="true">
                <a:gsLst>
                  <a:gs pos="0">
                    <a:srgbClr val="CFF976">
                      <a:alpha val="100000"/>
                    </a:srgbClr>
                  </a:gs>
                  <a:gs pos="100000">
                    <a:srgbClr val="A8DD38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name="Freeform 81" id="81"/>
            <p:cNvSpPr/>
            <p:nvPr/>
          </p:nvSpPr>
          <p:spPr>
            <a:xfrm flipH="false" flipV="false" rot="0">
              <a:off x="2523574" y="2215332"/>
              <a:ext cx="1801826" cy="1364543"/>
            </a:xfrm>
            <a:custGeom>
              <a:avLst/>
              <a:gdLst/>
              <a:ahLst/>
              <a:cxnLst/>
              <a:rect r="r" b="b" t="t" l="l"/>
              <a:pathLst>
                <a:path h="1364543" w="1801826">
                  <a:moveTo>
                    <a:pt x="0" y="0"/>
                  </a:moveTo>
                  <a:lnTo>
                    <a:pt x="1801826" y="0"/>
                  </a:lnTo>
                  <a:lnTo>
                    <a:pt x="1801826" y="1364543"/>
                  </a:lnTo>
                  <a:lnTo>
                    <a:pt x="0" y="136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>
                <a:extLst>
                  <a:ext uri="{96DAC541-7B7A-43D3-8B79-37D633B846F1}">
                    <asvg:svgBlip xmlns:asvg="http://schemas.microsoft.com/office/drawing/2016/SVG/main" r:embed="rId62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2" id="82"/>
            <p:cNvGrpSpPr/>
            <p:nvPr/>
          </p:nvGrpSpPr>
          <p:grpSpPr>
            <a:xfrm rot="0">
              <a:off x="2054784" y="1125751"/>
              <a:ext cx="1996793" cy="1373593"/>
              <a:chOff x="0" y="0"/>
              <a:chExt cx="2262242" cy="1556195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262251" cy="1556258"/>
              </a:xfrm>
              <a:custGeom>
                <a:avLst/>
                <a:gdLst/>
                <a:ahLst/>
                <a:cxnLst/>
                <a:rect r="r" b="b" t="t" l="l"/>
                <a:pathLst>
                  <a:path h="1556258" w="2262251">
                    <a:moveTo>
                      <a:pt x="2262251" y="414909"/>
                    </a:moveTo>
                    <a:cubicBezTo>
                      <a:pt x="2262251" y="463931"/>
                      <a:pt x="2222373" y="503555"/>
                      <a:pt x="2173097" y="503555"/>
                    </a:cubicBezTo>
                    <a:cubicBezTo>
                      <a:pt x="2123821" y="503555"/>
                      <a:pt x="2083943" y="463804"/>
                      <a:pt x="2083943" y="414909"/>
                    </a:cubicBezTo>
                    <a:cubicBezTo>
                      <a:pt x="2083943" y="366014"/>
                      <a:pt x="2123821" y="326263"/>
                      <a:pt x="2173097" y="326263"/>
                    </a:cubicBezTo>
                    <a:cubicBezTo>
                      <a:pt x="2222373" y="326263"/>
                      <a:pt x="2262251" y="366014"/>
                      <a:pt x="2262251" y="414909"/>
                    </a:cubicBezTo>
                    <a:moveTo>
                      <a:pt x="1515364" y="1240028"/>
                    </a:moveTo>
                    <a:lnTo>
                      <a:pt x="536702" y="1556258"/>
                    </a:lnTo>
                    <a:cubicBezTo>
                      <a:pt x="438785" y="1260983"/>
                      <a:pt x="248539" y="1007491"/>
                      <a:pt x="0" y="829437"/>
                    </a:cubicBezTo>
                    <a:lnTo>
                      <a:pt x="606044" y="0"/>
                    </a:lnTo>
                    <a:cubicBezTo>
                      <a:pt x="823214" y="156718"/>
                      <a:pt x="1013968" y="347345"/>
                      <a:pt x="1170559" y="564007"/>
                    </a:cubicBezTo>
                    <a:cubicBezTo>
                      <a:pt x="1318133" y="768350"/>
                      <a:pt x="1435354" y="995807"/>
                      <a:pt x="1515364" y="1240028"/>
                    </a:cubicBezTo>
                  </a:path>
                </a:pathLst>
              </a:custGeom>
              <a:gradFill rotWithShape="true">
                <a:gsLst>
                  <a:gs pos="0">
                    <a:srgbClr val="83FAC1">
                      <a:alpha val="100000"/>
                    </a:srgbClr>
                  </a:gs>
                  <a:gs pos="100000">
                    <a:srgbClr val="44E095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name="Freeform 84" id="84"/>
            <p:cNvSpPr/>
            <p:nvPr/>
          </p:nvSpPr>
          <p:spPr>
            <a:xfrm flipH="false" flipV="false" rot="0">
              <a:off x="2049865" y="1120860"/>
              <a:ext cx="2006630" cy="1383375"/>
            </a:xfrm>
            <a:custGeom>
              <a:avLst/>
              <a:gdLst/>
              <a:ahLst/>
              <a:cxnLst/>
              <a:rect r="r" b="b" t="t" l="l"/>
              <a:pathLst>
                <a:path h="1383375" w="2006630">
                  <a:moveTo>
                    <a:pt x="0" y="0"/>
                  </a:moveTo>
                  <a:lnTo>
                    <a:pt x="2006630" y="0"/>
                  </a:lnTo>
                  <a:lnTo>
                    <a:pt x="2006630" y="1383375"/>
                  </a:lnTo>
                  <a:lnTo>
                    <a:pt x="0" y="1383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3">
                <a:extLst>
                  <a:ext uri="{96DAC541-7B7A-43D3-8B79-37D633B846F1}">
                    <asvg:svgBlip xmlns:asvg="http://schemas.microsoft.com/office/drawing/2016/SVG/main" r:embed="rId6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5" id="85"/>
            <p:cNvGrpSpPr/>
            <p:nvPr/>
          </p:nvGrpSpPr>
          <p:grpSpPr>
            <a:xfrm rot="0">
              <a:off x="1296964" y="4891"/>
              <a:ext cx="1652767" cy="1852981"/>
              <a:chOff x="0" y="0"/>
              <a:chExt cx="1872483" cy="209931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872488" cy="2099310"/>
              </a:xfrm>
              <a:custGeom>
                <a:avLst/>
                <a:gdLst/>
                <a:ahLst/>
                <a:cxnLst/>
                <a:rect r="r" b="b" t="t" l="l"/>
                <a:pathLst>
                  <a:path h="2099310" w="1872488">
                    <a:moveTo>
                      <a:pt x="1872488" y="88646"/>
                    </a:moveTo>
                    <a:cubicBezTo>
                      <a:pt x="1872488" y="137668"/>
                      <a:pt x="1832610" y="177292"/>
                      <a:pt x="1783334" y="177292"/>
                    </a:cubicBezTo>
                    <a:cubicBezTo>
                      <a:pt x="1734058" y="177292"/>
                      <a:pt x="1694180" y="137541"/>
                      <a:pt x="1694180" y="88646"/>
                    </a:cubicBezTo>
                    <a:cubicBezTo>
                      <a:pt x="1694180" y="39751"/>
                      <a:pt x="1734058" y="0"/>
                      <a:pt x="1783334" y="0"/>
                    </a:cubicBezTo>
                    <a:cubicBezTo>
                      <a:pt x="1832610" y="0"/>
                      <a:pt x="1872488" y="39751"/>
                      <a:pt x="1872488" y="88646"/>
                    </a:cubicBezTo>
                    <a:moveTo>
                      <a:pt x="858520" y="2099310"/>
                    </a:moveTo>
                    <a:cubicBezTo>
                      <a:pt x="617728" y="1926717"/>
                      <a:pt x="322072" y="1825117"/>
                      <a:pt x="2540" y="1825117"/>
                    </a:cubicBezTo>
                    <a:lnTo>
                      <a:pt x="0" y="798068"/>
                    </a:lnTo>
                    <a:cubicBezTo>
                      <a:pt x="547116" y="798068"/>
                      <a:pt x="1053211" y="973074"/>
                      <a:pt x="1464564" y="1269873"/>
                    </a:cubicBezTo>
                    <a:lnTo>
                      <a:pt x="858520" y="2099310"/>
                    </a:lnTo>
                  </a:path>
                </a:pathLst>
              </a:custGeom>
              <a:gradFill rotWithShape="true">
                <a:gsLst>
                  <a:gs pos="0">
                    <a:srgbClr val="7FDFFF">
                      <a:alpha val="100000"/>
                    </a:srgbClr>
                  </a:gs>
                  <a:gs pos="100000">
                    <a:srgbClr val="1AC6FF">
                      <a:alpha val="100000"/>
                    </a:srgbClr>
                  </a:gs>
                </a:gsLst>
                <a:lin ang="5400000"/>
              </a:gradFill>
            </p:spPr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1292045" y="0"/>
              <a:ext cx="1662605" cy="1862765"/>
            </a:xfrm>
            <a:custGeom>
              <a:avLst/>
              <a:gdLst/>
              <a:ahLst/>
              <a:cxnLst/>
              <a:rect r="r" b="b" t="t" l="l"/>
              <a:pathLst>
                <a:path h="1862765" w="1662605">
                  <a:moveTo>
                    <a:pt x="0" y="0"/>
                  </a:moveTo>
                  <a:lnTo>
                    <a:pt x="1662605" y="0"/>
                  </a:lnTo>
                  <a:lnTo>
                    <a:pt x="1662605" y="1862765"/>
                  </a:lnTo>
                  <a:lnTo>
                    <a:pt x="0" y="1862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5">
                <a:extLst>
                  <a:ext uri="{96DAC541-7B7A-43D3-8B79-37D633B846F1}">
                    <asvg:svgBlip xmlns:asvg="http://schemas.microsoft.com/office/drawing/2016/SVG/main" r:embed="rId6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 rot="0">
              <a:off x="4143398" y="1371019"/>
              <a:ext cx="2880695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95"/>
                </a:lnSpc>
              </a:pPr>
              <a:r>
                <a:rPr lang="en-US" b="true" sz="132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Trust in Information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1758068" y="1146264"/>
              <a:ext cx="100869" cy="210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6"/>
                </a:lnSpc>
              </a:pPr>
              <a:r>
                <a:rPr lang="en-US" sz="988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1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2663155" y="1804999"/>
              <a:ext cx="100869" cy="210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6"/>
                </a:lnSpc>
              </a:pPr>
              <a:r>
                <a:rPr lang="en-US" sz="988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2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4379298" y="1689231"/>
              <a:ext cx="6487384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Builds trust through hardware-anchored cryptography and on-device blockchain auditing—ensuring funds are always verifiable, even offline.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3301602" y="384245"/>
              <a:ext cx="790527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8"/>
                </a:lnSpc>
              </a:pPr>
              <a:r>
                <a:rPr lang="en-US" sz="1232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Instantly enables digital payments when network and backend servers fail—</a:t>
              </a:r>
              <a:r>
                <a:rPr lang="en-US" sz="1232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solving the "no network = no payment" problem in seconds.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567041" y="2215332"/>
              <a:ext cx="1450009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99"/>
                </a:lnSpc>
              </a:pPr>
              <a:r>
                <a:rPr lang="en-US" sz="2082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Viability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0" y="2903847"/>
              <a:ext cx="2598305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6"/>
                </a:lnSpc>
              </a:pPr>
              <a:r>
                <a:rPr lang="en-US" sz="1188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Potential for success by</a:t>
              </a:r>
            </a:p>
            <a:p>
              <a:pPr algn="ctr">
                <a:lnSpc>
                  <a:spcPts val="1426"/>
                </a:lnSpc>
              </a:pPr>
              <a:r>
                <a:rPr lang="en-US" sz="1188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addressing key challenges</a:t>
              </a:r>
            </a:p>
            <a:p>
              <a:pPr algn="ctr">
                <a:lnSpc>
                  <a:spcPts val="1426"/>
                </a:lnSpc>
              </a:pPr>
              <a:r>
                <a:rPr lang="en-US" sz="1188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effectively.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2980070" y="2812926"/>
              <a:ext cx="96665" cy="21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9"/>
                </a:lnSpc>
              </a:pPr>
              <a:r>
                <a:rPr lang="en-US" sz="941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3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4418859" y="2819531"/>
              <a:ext cx="3630134" cy="22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55"/>
                </a:lnSpc>
              </a:pPr>
              <a:r>
                <a:rPr lang="en-US" b="true" sz="112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Leveraging Existing Behavior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4611061" y="3107227"/>
              <a:ext cx="6492476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Utilizes familiar actions like scanning QR codes, tapping phones (NFC), and Bluetooth connectivity—zero new user behavior required.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3041552" y="11496"/>
              <a:ext cx="339057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95"/>
                </a:lnSpc>
              </a:pPr>
              <a:r>
                <a:rPr lang="en-US" sz="132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Immediate Problem Solving</a:t>
              </a:r>
            </a:p>
            <a:p>
              <a:pPr algn="l">
                <a:lnSpc>
                  <a:spcPts val="1595"/>
                </a:lnSpc>
              </a:pP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3301602" y="5918034"/>
              <a:ext cx="7905273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Empowers unbanked and under-connected populations by enabling digital payments without requiring constant internet access or expensive infrastructure.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4175328" y="4202154"/>
              <a:ext cx="3454573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95"/>
                </a:lnSpc>
              </a:pPr>
              <a:r>
                <a:rPr lang="en-US" sz="132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Dis</a:t>
              </a:r>
              <a:r>
                <a:rPr lang="en-US" b="true" sz="132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aster-Resilient Value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1760169" y="4502158"/>
              <a:ext cx="96665" cy="210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9"/>
                </a:lnSpc>
              </a:pPr>
              <a:r>
                <a:rPr lang="en-US" sz="941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5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4316765" y="4517132"/>
              <a:ext cx="689011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484848"/>
                  </a:solidFill>
                  <a:latin typeface="Roboto"/>
                  <a:ea typeface="Roboto"/>
                  <a:cs typeface="Roboto"/>
                  <a:sym typeface="Roboto"/>
                </a:rPr>
                <a:t>Provides life-saving transaction capability during natural disasters, network outages, and crowded events where digital payments typically fail.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3029169" y="5597359"/>
              <a:ext cx="3746853" cy="25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95"/>
                </a:lnSpc>
              </a:pPr>
              <a:r>
                <a:rPr lang="en-US" b="true" sz="1329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Empowerment and Inclusion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2663155" y="3839902"/>
              <a:ext cx="100869" cy="210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86"/>
                </a:lnSpc>
              </a:pPr>
              <a:r>
                <a:rPr lang="en-US" sz="988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4</a:t>
              </a:r>
            </a:p>
          </p:txBody>
        </p:sp>
        <p:sp>
          <p:nvSpPr>
            <p:cNvPr name="AutoShape 105" id="105"/>
            <p:cNvSpPr/>
            <p:nvPr/>
          </p:nvSpPr>
          <p:spPr>
            <a:xfrm flipV="true">
              <a:off x="375851" y="2722872"/>
              <a:ext cx="192723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107" id="107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sp>
        <p:nvSpPr>
          <p:cNvPr name="AutoShape 110" id="110"/>
          <p:cNvSpPr/>
          <p:nvPr/>
        </p:nvSpPr>
        <p:spPr>
          <a:xfrm flipH="true">
            <a:off x="357628" y="5960109"/>
            <a:ext cx="31497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>
            <a:off x="3633073" y="1748455"/>
            <a:ext cx="18340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2" id="112"/>
          <p:cNvGrpSpPr/>
          <p:nvPr/>
        </p:nvGrpSpPr>
        <p:grpSpPr>
          <a:xfrm rot="0">
            <a:off x="8126071" y="5886326"/>
            <a:ext cx="11020568" cy="3813332"/>
            <a:chOff x="0" y="0"/>
            <a:chExt cx="14694091" cy="508444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2291326" y="4143478"/>
              <a:ext cx="540180" cy="540180"/>
            </a:xfrm>
            <a:custGeom>
              <a:avLst/>
              <a:gdLst/>
              <a:ahLst/>
              <a:cxnLst/>
              <a:rect r="r" b="b" t="t" l="l"/>
              <a:pathLst>
                <a:path h="540180" w="540180">
                  <a:moveTo>
                    <a:pt x="0" y="0"/>
                  </a:moveTo>
                  <a:lnTo>
                    <a:pt x="540180" y="0"/>
                  </a:lnTo>
                  <a:lnTo>
                    <a:pt x="540180" y="540180"/>
                  </a:lnTo>
                  <a:lnTo>
                    <a:pt x="0" y="540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7">
                <a:extLst>
                  <a:ext uri="{96DAC541-7B7A-43D3-8B79-37D633B846F1}">
                    <asvg:svgBlip xmlns:asvg="http://schemas.microsoft.com/office/drawing/2016/SVG/main" r:embed="rId6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1490109" y="0"/>
              <a:ext cx="12315547" cy="5084443"/>
            </a:xfrm>
            <a:custGeom>
              <a:avLst/>
              <a:gdLst/>
              <a:ahLst/>
              <a:cxnLst/>
              <a:rect r="r" b="b" t="t" l="l"/>
              <a:pathLst>
                <a:path h="5084443" w="12315547">
                  <a:moveTo>
                    <a:pt x="0" y="0"/>
                  </a:moveTo>
                  <a:lnTo>
                    <a:pt x="12315547" y="0"/>
                  </a:lnTo>
                  <a:lnTo>
                    <a:pt x="12315547" y="5084443"/>
                  </a:lnTo>
                  <a:lnTo>
                    <a:pt x="0" y="508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9">
                <a:extLst>
                  <a:ext uri="{96DAC541-7B7A-43D3-8B79-37D633B846F1}">
                    <asvg:svgBlip xmlns:asvg="http://schemas.microsoft.com/office/drawing/2016/SVG/main" r:embed="rId7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 rot="0">
              <a:off x="0" y="75519"/>
              <a:ext cx="14694091" cy="499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1"/>
                </a:lnSpc>
                <a:spcBef>
                  <a:spcPct val="0"/>
                </a:spcBef>
              </a:pPr>
              <a:r>
                <a:rPr lang="en-US" sz="2484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Strategies to overcome the challenge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1674421" y="548711"/>
              <a:ext cx="11713250" cy="762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32"/>
                </a:lnSpc>
                <a:spcBef>
                  <a:spcPct val="0"/>
                </a:spcBef>
              </a:pPr>
            </a:p>
            <a:p>
              <a:pPr algn="ctr">
                <a:lnSpc>
                  <a:spcPts val="248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9466052" y="6446364"/>
            <a:ext cx="8485126" cy="7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Immutable Hash-Chaining: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Every transaction is a "</a:t>
            </a:r>
            <a:r>
              <a:rPr lang="en-US" sz="150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 linked to the previous one via its </a:t>
            </a:r>
            <a:r>
              <a:rPr lang="en-US" sz="1500" b="true">
                <a:solidFill>
                  <a:srgbClr val="F04F0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SHA-256 hash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If any field in any block is modified (even one byte), the hash changes, breaking the entire chain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9466052" y="7365123"/>
            <a:ext cx="8485126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Dual-Sided Hardware Attestation: 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During the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NFC/BLE handshake, both phones exchange "</a:t>
            </a:r>
            <a:r>
              <a:rPr lang="en-US" sz="1500" b="true">
                <a:solidFill>
                  <a:srgbClr val="E5575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Passes</a:t>
            </a:r>
            <a:r>
              <a:rPr lang="en-US" b="true" sz="1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signed by the server—containing a "Hardware Tier".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466052" y="8094070"/>
            <a:ext cx="8485126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Server-Side Reconciliation Timeout: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If the payee fails to upload the ma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tching </a:t>
            </a:r>
            <a:r>
              <a:rPr lang="en-US" sz="1500" b="true">
                <a:solidFill>
                  <a:srgbClr val="F04F0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co-signed block</a:t>
            </a: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the server within 30 days, the server automatically invalidates the reservation. The funds are restored to the payer's main balance when they activate a new device—ensuring zero permanent loss of money.</a:t>
            </a:r>
          </a:p>
        </p:txBody>
      </p:sp>
      <p:sp>
        <p:nvSpPr>
          <p:cNvPr name="AutoShape 120" id="120"/>
          <p:cNvSpPr/>
          <p:nvPr/>
        </p:nvSpPr>
        <p:spPr>
          <a:xfrm>
            <a:off x="3160297" y="826583"/>
            <a:ext cx="105483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121" id="121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71"/>
            <a:stretch>
              <a:fillRect l="0" t="-28504" r="0" b="-2850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4815" y="-306503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945600" cy="227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62960" y="1119239"/>
            <a:ext cx="9382134" cy="4918581"/>
            <a:chOff x="0" y="0"/>
            <a:chExt cx="12509512" cy="655810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9050"/>
              <a:ext cx="7324920" cy="57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38"/>
                </a:lnSpc>
              </a:pPr>
              <a:r>
                <a:rPr lang="en-US" sz="2782">
                  <a:solidFill>
                    <a:srgbClr val="484848"/>
                  </a:solidFill>
                  <a:latin typeface="Batangas"/>
                  <a:ea typeface="Batangas"/>
                  <a:cs typeface="Batangas"/>
                  <a:sym typeface="Batangas"/>
                </a:rPr>
                <a:t># Our Transformative Impact #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193197" y="1068176"/>
              <a:ext cx="7278165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# Unlocking “Dead-Zone” Economices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98577" y="1512201"/>
              <a:ext cx="10883350" cy="1330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6"/>
                </a:lnSpc>
              </a:pPr>
              <a:r>
                <a:rPr lang="en-US" sz="163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The Shift:</a:t>
              </a:r>
              <a:r>
                <a:rPr lang="en-US" sz="163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High-friction environments (underground metros, remote rural areas, crowded stadiums) transform into active digital markets.</a:t>
              </a:r>
            </a:p>
            <a:p>
              <a:pPr algn="l">
                <a:lnSpc>
                  <a:spcPts val="1956"/>
                </a:lnSpc>
              </a:pPr>
              <a:r>
                <a:rPr lang="en-US" b="true" sz="1630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The Impact: </a:t>
              </a:r>
              <a:r>
                <a:rPr lang="en-US" sz="163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Democratizes digital payments—ensuring users with the poorest network coverage have the same transaction reliability as those in high-speed 5G zones.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93197" y="4757883"/>
              <a:ext cx="9058886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b="true" sz="20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# Redefining the “Digital Tap”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498577" y="5329383"/>
              <a:ext cx="11010935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4"/>
                </a:lnSpc>
              </a:pPr>
              <a:r>
                <a:rPr lang="en-US" b="true" sz="1545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</a:t>
              </a:r>
              <a:r>
                <a:rPr lang="en-US" b="true" sz="1545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 Shift: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A phone tap currently only starts an 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on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lin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 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oces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s.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 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 pro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je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ct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,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"Tap" is a complete hardware handshake.</a:t>
              </a:r>
            </a:p>
            <a:p>
              <a:pPr algn="l">
                <a:lnSpc>
                  <a:spcPts val="1854"/>
                </a:lnSpc>
              </a:pPr>
              <a:r>
                <a:rPr lang="en-US" b="true" sz="1545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The Impact:</a:t>
              </a:r>
              <a:r>
                <a:rPr lang="en-US" sz="154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Transforms the NFC antenna into a secure bridge that handles complex blockchain audits and fund transfers in milliseconds.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93197" y="2860199"/>
              <a:ext cx="8368403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</a:pPr>
              <a:r>
                <a:rPr lang="en-US" b="true" sz="2099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# Focus on Eliminating Single Point of Failure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07457" y="3342316"/>
              <a:ext cx="10254635" cy="1371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6"/>
                </a:lnSpc>
              </a:pPr>
              <a:r>
                <a:rPr lang="en-US" sz="1730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</a:t>
              </a:r>
              <a:r>
                <a:rPr lang="en-US" sz="173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he Shift: </a:t>
              </a:r>
              <a:r>
                <a:rPr lang="en-US" sz="173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system moves from “always online, sometimes broken” to “sometimes offline, always working.”</a:t>
              </a:r>
            </a:p>
            <a:p>
              <a:pPr algn="l">
                <a:lnSpc>
                  <a:spcPts val="2076"/>
                </a:lnSpc>
              </a:pPr>
              <a:r>
                <a:rPr lang="en-US" sz="1730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The impact:</a:t>
              </a:r>
              <a:r>
                <a:rPr lang="en-US" sz="173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Eliminates the server as a single point of failure - payment works anywhere, regardless of cloud connectivity .</a:t>
              </a:r>
            </a:p>
          </p:txBody>
        </p:sp>
        <p:sp>
          <p:nvSpPr>
            <p:cNvPr name="AutoShape 15" id="15"/>
            <p:cNvSpPr/>
            <p:nvPr/>
          </p:nvSpPr>
          <p:spPr>
            <a:xfrm flipH="true">
              <a:off x="428143" y="1129005"/>
              <a:ext cx="0" cy="5429103"/>
            </a:xfrm>
            <a:prstGeom prst="line">
              <a:avLst/>
            </a:prstGeom>
            <a:ln cap="flat" w="5439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1507457" y="815414"/>
              <a:ext cx="4987412" cy="0"/>
            </a:xfrm>
            <a:prstGeom prst="line">
              <a:avLst/>
            </a:prstGeom>
            <a:ln cap="flat" w="5439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3999" y="1249101"/>
            <a:ext cx="9288308" cy="4680363"/>
            <a:chOff x="0" y="0"/>
            <a:chExt cx="12384411" cy="624048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27238" y="-9525"/>
              <a:ext cx="6420718" cy="595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4"/>
                </a:lnSpc>
              </a:pPr>
              <a:r>
                <a:rPr lang="en-US" sz="2920" b="true">
                  <a:solidFill>
                    <a:srgbClr val="484848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# Benefits:#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40528" y="668792"/>
              <a:ext cx="7387018" cy="445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0"/>
                </a:lnSpc>
              </a:pPr>
              <a:r>
                <a:rPr lang="en-US" sz="2167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# Zero-Failure Assurance (For user)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40528" y="2480138"/>
              <a:ext cx="8326905" cy="445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0"/>
                </a:lnSpc>
              </a:pPr>
              <a:r>
                <a:rPr lang="en-US" sz="2167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# Fraud Prevention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23237" y="1121511"/>
              <a:ext cx="11761174" cy="138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Value: Eliminates "Payment Anxiety"—the fear of a transaction failing while standing in a long line.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Result: 100% success rate at the point of sale, regardless of signal bars or server maintenance schedules.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50573" y="2956612"/>
              <a:ext cx="11468832" cy="138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Value: Hardware-Anchored Counters and Play Integrity make it virtually impossible to fake or copy digital cash.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Result: Exceeds the security of standard online wallets—private keys never leave the phone's physical Secure Element (StrongBox).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40528" y="4328212"/>
              <a:ext cx="5829940" cy="445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0"/>
                </a:lnSpc>
              </a:pPr>
              <a:r>
                <a:rPr lang="en-US" sz="2167" b="true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# Instantaneous Checkout Speed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50573" y="4859359"/>
              <a:ext cx="11468832" cy="138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Value: Removes the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"wa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g for SMS"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 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"w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iti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ng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for bank confirmat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" de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ay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yp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ica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10–20 se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</a:t>
              </a: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nds).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Result: Merchants process 3× more customers during peak hours—because the Shadow protocol confirms the payment locally in under 1.5 seconds.</a:t>
              </a:r>
            </a:p>
          </p:txBody>
        </p:sp>
        <p:sp>
          <p:nvSpPr>
            <p:cNvPr name="AutoShape 25" id="25"/>
            <p:cNvSpPr/>
            <p:nvPr/>
          </p:nvSpPr>
          <p:spPr>
            <a:xfrm flipH="true">
              <a:off x="27238" y="678317"/>
              <a:ext cx="27238" cy="5335252"/>
            </a:xfrm>
            <a:prstGeom prst="line">
              <a:avLst/>
            </a:prstGeom>
            <a:ln cap="flat" w="544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421722" y="585623"/>
              <a:ext cx="2005620" cy="0"/>
            </a:xfrm>
            <a:prstGeom prst="line">
              <a:avLst/>
            </a:prstGeom>
            <a:ln cap="flat" w="5447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28" id="28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4393221" y="1009650"/>
            <a:ext cx="902597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504" r="0" b="-28504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945600" cy="2276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30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123405" cy="1249101"/>
            <a:chOff x="0" y="0"/>
            <a:chExt cx="2831207" cy="1665468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28151" y="25400"/>
              <a:ext cx="2774865" cy="1614678"/>
            </a:xfrm>
            <a:custGeom>
              <a:avLst/>
              <a:gdLst/>
              <a:ahLst/>
              <a:cxnLst/>
              <a:rect r="r" b="b" t="t" l="l"/>
              <a:pathLst>
                <a:path h="1614678" w="2774865">
                  <a:moveTo>
                    <a:pt x="0" y="807339"/>
                  </a:moveTo>
                  <a:cubicBezTo>
                    <a:pt x="0" y="361442"/>
                    <a:pt x="621157" y="0"/>
                    <a:pt x="1387433" y="0"/>
                  </a:cubicBezTo>
                  <a:cubicBezTo>
                    <a:pt x="2153708" y="0"/>
                    <a:pt x="2774865" y="361442"/>
                    <a:pt x="2774865" y="807339"/>
                  </a:cubicBezTo>
                  <a:cubicBezTo>
                    <a:pt x="2774865" y="1253236"/>
                    <a:pt x="2153708" y="1614678"/>
                    <a:pt x="1387433" y="1614678"/>
                  </a:cubicBezTo>
                  <a:cubicBezTo>
                    <a:pt x="621157" y="1614678"/>
                    <a:pt x="0" y="1253236"/>
                    <a:pt x="0" y="8073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831167" cy="1665478"/>
            </a:xfrm>
            <a:custGeom>
              <a:avLst/>
              <a:gdLst/>
              <a:ahLst/>
              <a:cxnLst/>
              <a:rect r="r" b="b" t="t" l="l"/>
              <a:pathLst>
                <a:path h="1665478" w="2831167">
                  <a:moveTo>
                    <a:pt x="0" y="832739"/>
                  </a:moveTo>
                  <a:cubicBezTo>
                    <a:pt x="0" y="363855"/>
                    <a:pt x="646211" y="0"/>
                    <a:pt x="1415584" y="0"/>
                  </a:cubicBezTo>
                  <a:cubicBezTo>
                    <a:pt x="2184956" y="0"/>
                    <a:pt x="2831167" y="363855"/>
                    <a:pt x="2831167" y="832739"/>
                  </a:cubicBezTo>
                  <a:lnTo>
                    <a:pt x="2803016" y="832739"/>
                  </a:lnTo>
                  <a:lnTo>
                    <a:pt x="2831167" y="832739"/>
                  </a:lnTo>
                  <a:cubicBezTo>
                    <a:pt x="2831167" y="1301623"/>
                    <a:pt x="2184956" y="1665478"/>
                    <a:pt x="1415584" y="1665478"/>
                  </a:cubicBezTo>
                  <a:lnTo>
                    <a:pt x="1415584" y="1640078"/>
                  </a:lnTo>
                  <a:lnTo>
                    <a:pt x="1415584" y="1665478"/>
                  </a:lnTo>
                  <a:cubicBezTo>
                    <a:pt x="646211" y="1665478"/>
                    <a:pt x="0" y="1301623"/>
                    <a:pt x="0" y="832739"/>
                  </a:cubicBezTo>
                  <a:lnTo>
                    <a:pt x="28151" y="832739"/>
                  </a:lnTo>
                  <a:lnTo>
                    <a:pt x="56302" y="832739"/>
                  </a:lnTo>
                  <a:lnTo>
                    <a:pt x="28151" y="832739"/>
                  </a:lnTo>
                  <a:lnTo>
                    <a:pt x="0" y="832739"/>
                  </a:lnTo>
                  <a:moveTo>
                    <a:pt x="56302" y="832739"/>
                  </a:moveTo>
                  <a:cubicBezTo>
                    <a:pt x="56302" y="846709"/>
                    <a:pt x="43634" y="858139"/>
                    <a:pt x="28151" y="858139"/>
                  </a:cubicBezTo>
                  <a:cubicBezTo>
                    <a:pt x="12668" y="858139"/>
                    <a:pt x="0" y="846709"/>
                    <a:pt x="0" y="832739"/>
                  </a:cubicBezTo>
                  <a:cubicBezTo>
                    <a:pt x="0" y="818769"/>
                    <a:pt x="12668" y="807339"/>
                    <a:pt x="28151" y="807339"/>
                  </a:cubicBezTo>
                  <a:cubicBezTo>
                    <a:pt x="43634" y="807339"/>
                    <a:pt x="56302" y="818769"/>
                    <a:pt x="56302" y="832739"/>
                  </a:cubicBezTo>
                  <a:cubicBezTo>
                    <a:pt x="56302" y="1255522"/>
                    <a:pt x="652545" y="1614678"/>
                    <a:pt x="1415584" y="1614678"/>
                  </a:cubicBezTo>
                  <a:cubicBezTo>
                    <a:pt x="2178622" y="1614678"/>
                    <a:pt x="2774865" y="1255522"/>
                    <a:pt x="2774865" y="832739"/>
                  </a:cubicBezTo>
                  <a:cubicBezTo>
                    <a:pt x="2774865" y="409956"/>
                    <a:pt x="2178763" y="50800"/>
                    <a:pt x="1415584" y="50800"/>
                  </a:cubicBezTo>
                  <a:lnTo>
                    <a:pt x="1415584" y="25400"/>
                  </a:lnTo>
                  <a:lnTo>
                    <a:pt x="1415584" y="50800"/>
                  </a:lnTo>
                  <a:cubicBezTo>
                    <a:pt x="652545" y="50800"/>
                    <a:pt x="56302" y="409956"/>
                    <a:pt x="56302" y="832739"/>
                  </a:cubicBezTo>
                  <a:close/>
                </a:path>
              </a:pathLst>
            </a:custGeom>
            <a:solidFill>
              <a:srgbClr val="8064A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831207" cy="1674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Batangas"/>
                  <a:ea typeface="Batangas"/>
                  <a:cs typeface="Batangas"/>
                  <a:sym typeface="Batangas"/>
                </a:rPr>
                <a:t>GODSEC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90581" y="1720670"/>
            <a:ext cx="5830541" cy="45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  <a:spcBef>
                <a:spcPct val="0"/>
              </a:spcBef>
            </a:pPr>
            <a:r>
              <a:rPr lang="en-US" sz="2939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Comparison with Existing Systems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281366" y="2177738"/>
            <a:ext cx="644400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6014845" y="2539926"/>
            <a:ext cx="1809734" cy="564733"/>
            <a:chOff x="0" y="0"/>
            <a:chExt cx="2360497" cy="73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60497" cy="736600"/>
            </a:xfrm>
            <a:custGeom>
              <a:avLst/>
              <a:gdLst/>
              <a:ahLst/>
              <a:cxnLst/>
              <a:rect r="r" b="b" t="t" l="l"/>
              <a:pathLst>
                <a:path h="7366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2F6F9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60497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095278" y="2617821"/>
            <a:ext cx="1648869" cy="2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499" b="true">
                <a:solidFill>
                  <a:srgbClr val="FFFFFF"/>
                </a:solidFill>
                <a:latin typeface="Batangas"/>
                <a:ea typeface="Batangas"/>
                <a:cs typeface="Batangas"/>
                <a:sym typeface="Batangas"/>
              </a:rPr>
              <a:t>Parameter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824580" y="2539926"/>
            <a:ext cx="1970600" cy="564733"/>
            <a:chOff x="0" y="0"/>
            <a:chExt cx="2570319" cy="736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70319" cy="736600"/>
            </a:xfrm>
            <a:custGeom>
              <a:avLst/>
              <a:gdLst/>
              <a:ahLst/>
              <a:cxnLst/>
              <a:rect r="r" b="b" t="t" l="l"/>
              <a:pathLst>
                <a:path h="7366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B3B66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70319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905012" y="2617821"/>
            <a:ext cx="1809734" cy="42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499" b="true">
                <a:solidFill>
                  <a:srgbClr val="FFFFFF"/>
                </a:solidFill>
                <a:latin typeface="Batangas"/>
                <a:ea typeface="Batangas"/>
                <a:cs typeface="Batangas"/>
                <a:sym typeface="Batangas"/>
              </a:rPr>
              <a:t>Our System (Shadow Protocol)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95179" y="2539926"/>
            <a:ext cx="1970600" cy="564733"/>
            <a:chOff x="0" y="0"/>
            <a:chExt cx="2570319" cy="736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70319" cy="736600"/>
            </a:xfrm>
            <a:custGeom>
              <a:avLst/>
              <a:gdLst/>
              <a:ahLst/>
              <a:cxnLst/>
              <a:rect r="r" b="b" t="t" l="l"/>
              <a:pathLst>
                <a:path h="7366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B3B66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70319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875612" y="2617821"/>
            <a:ext cx="1809734" cy="2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499" b="true">
                <a:solidFill>
                  <a:srgbClr val="FFFFFF"/>
                </a:solidFill>
                <a:latin typeface="Batangas"/>
                <a:ea typeface="Batangas"/>
                <a:cs typeface="Batangas"/>
                <a:sym typeface="Batangas"/>
              </a:rPr>
              <a:t>UPI Lite X (NPCI)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765779" y="2539926"/>
            <a:ext cx="1970600" cy="564733"/>
            <a:chOff x="0" y="0"/>
            <a:chExt cx="2570319" cy="736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70319" cy="736600"/>
            </a:xfrm>
            <a:custGeom>
              <a:avLst/>
              <a:gdLst/>
              <a:ahLst/>
              <a:cxnLst/>
              <a:rect r="r" b="b" t="t" l="l"/>
              <a:pathLst>
                <a:path h="7366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B3B66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70319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846211" y="2617821"/>
            <a:ext cx="1809734" cy="42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499" b="true">
                <a:solidFill>
                  <a:srgbClr val="FFFFFF"/>
                </a:solidFill>
                <a:latin typeface="Batangas"/>
                <a:ea typeface="Batangas"/>
                <a:cs typeface="Batangas"/>
                <a:sym typeface="Batangas"/>
              </a:rPr>
              <a:t>RBI Offline Framework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736378" y="2539926"/>
            <a:ext cx="1970600" cy="564733"/>
            <a:chOff x="0" y="0"/>
            <a:chExt cx="2570319" cy="736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70319" cy="736600"/>
            </a:xfrm>
            <a:custGeom>
              <a:avLst/>
              <a:gdLst/>
              <a:ahLst/>
              <a:cxnLst/>
              <a:rect r="r" b="b" t="t" l="l"/>
              <a:pathLst>
                <a:path h="7366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B3B66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70319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816811" y="2617821"/>
            <a:ext cx="1809734" cy="42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499" b="true">
                <a:solidFill>
                  <a:srgbClr val="FFFFFF"/>
                </a:solidFill>
                <a:latin typeface="Batangas"/>
                <a:ea typeface="Batangas"/>
                <a:cs typeface="Batangas"/>
                <a:sym typeface="Batangas"/>
              </a:rPr>
              <a:t>ElasticPay (IIT Indore)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5706978" y="2539926"/>
            <a:ext cx="1970600" cy="564733"/>
            <a:chOff x="0" y="0"/>
            <a:chExt cx="2570319" cy="736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70319" cy="736600"/>
            </a:xfrm>
            <a:custGeom>
              <a:avLst/>
              <a:gdLst/>
              <a:ahLst/>
              <a:cxnLst/>
              <a:rect r="r" b="b" t="t" l="l"/>
              <a:pathLst>
                <a:path h="7366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B3B66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70319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5787411" y="2617821"/>
            <a:ext cx="1809734" cy="42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499" b="true">
                <a:solidFill>
                  <a:srgbClr val="FFFFFF"/>
                </a:solidFill>
                <a:latin typeface="Batangas"/>
                <a:ea typeface="Batangas"/>
                <a:cs typeface="Batangas"/>
                <a:sym typeface="Batangas"/>
              </a:rPr>
              <a:t>Crunchfish Digital Cash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014845" y="3104659"/>
            <a:ext cx="1809734" cy="769205"/>
            <a:chOff x="0" y="0"/>
            <a:chExt cx="2360497" cy="1003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095278" y="3192078"/>
            <a:ext cx="1648869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Payment Type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824580" y="3104659"/>
            <a:ext cx="1970600" cy="769205"/>
            <a:chOff x="0" y="0"/>
            <a:chExt cx="2570319" cy="10033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905012" y="3192078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P2P (Person-to-Person) + P2M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795179" y="3104659"/>
            <a:ext cx="1970600" cy="769205"/>
            <a:chOff x="0" y="0"/>
            <a:chExt cx="2570319" cy="10033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875612" y="3192078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P2P + P2M (NFC phones/QR)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765779" y="3104659"/>
            <a:ext cx="1970600" cy="769205"/>
            <a:chOff x="0" y="0"/>
            <a:chExt cx="2570319" cy="10033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846211" y="3192078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P2M (Cards/Wallets)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736378" y="3104659"/>
            <a:ext cx="1970600" cy="769205"/>
            <a:chOff x="0" y="0"/>
            <a:chExt cx="2570319" cy="10033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816811" y="3192078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P2P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5706978" y="3104659"/>
            <a:ext cx="1970600" cy="769205"/>
            <a:chOff x="0" y="0"/>
            <a:chExt cx="2570319" cy="10033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5787411" y="3192078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P2P + P2M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6014845" y="3873864"/>
            <a:ext cx="1809734" cy="769205"/>
            <a:chOff x="0" y="0"/>
            <a:chExt cx="2360497" cy="10033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6095278" y="3961283"/>
            <a:ext cx="1648869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Hardware Security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7824580" y="3873864"/>
            <a:ext cx="1970600" cy="769205"/>
            <a:chOff x="0" y="0"/>
            <a:chExt cx="2570319" cy="1003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7905012" y="3961283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StrongBox/TEE – keys never leave hardware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795179" y="3873864"/>
            <a:ext cx="1970600" cy="769205"/>
            <a:chOff x="0" y="0"/>
            <a:chExt cx="2570319" cy="10033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9875612" y="3961283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None (software wallet)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1765779" y="3873864"/>
            <a:ext cx="1970600" cy="769205"/>
            <a:chOff x="0" y="0"/>
            <a:chExt cx="2570319" cy="10033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1846211" y="3961283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None specified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3736378" y="3873864"/>
            <a:ext cx="1970600" cy="769205"/>
            <a:chOff x="0" y="0"/>
            <a:chExt cx="2570319" cy="10033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3816811" y="3961283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TPM + TEE + SE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5706978" y="3873864"/>
            <a:ext cx="1970600" cy="769205"/>
            <a:chOff x="0" y="0"/>
            <a:chExt cx="2570319" cy="10033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5787411" y="3961283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TEE-based wallets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6014845" y="4643069"/>
            <a:ext cx="1809734" cy="769205"/>
            <a:chOff x="0" y="0"/>
            <a:chExt cx="2360497" cy="10033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6095278" y="4730489"/>
            <a:ext cx="1648869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Offline Verification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7824580" y="4643069"/>
            <a:ext cx="1970600" cy="769205"/>
            <a:chOff x="0" y="0"/>
            <a:chExt cx="2570319" cy="10033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7905012" y="4730489"/>
            <a:ext cx="1809734" cy="59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Atomic Co-Signing – both parties sign same block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9795179" y="4643069"/>
            <a:ext cx="1970600" cy="769205"/>
            <a:chOff x="0" y="0"/>
            <a:chExt cx="2570319" cy="10033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875612" y="4730489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Deferred settlement via PoS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1765779" y="4643069"/>
            <a:ext cx="1970600" cy="769205"/>
            <a:chOff x="0" y="0"/>
            <a:chExt cx="2570319" cy="10033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846211" y="473048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Deferred settlement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3736378" y="4643069"/>
            <a:ext cx="1970600" cy="769205"/>
            <a:chOff x="0" y="0"/>
            <a:chExt cx="2570319" cy="10033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3816811" y="473048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Immediate settlement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5706978" y="4643069"/>
            <a:ext cx="1970600" cy="769205"/>
            <a:chOff x="0" y="0"/>
            <a:chExt cx="2570319" cy="10033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15787411" y="473048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Deferred (IOUs)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6014845" y="5412274"/>
            <a:ext cx="1809734" cy="769205"/>
            <a:chOff x="0" y="0"/>
            <a:chExt cx="2360497" cy="10033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6095278" y="5499694"/>
            <a:ext cx="1648869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Double-Spend Protection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7824580" y="5412274"/>
            <a:ext cx="1970600" cy="769205"/>
            <a:chOff x="0" y="0"/>
            <a:chExt cx="2570319" cy="10033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7905012" y="5499694"/>
            <a:ext cx="1809734" cy="59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Hardware monotonic counter – prevents rollback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9795179" y="5412274"/>
            <a:ext cx="1970600" cy="769205"/>
            <a:chOff x="0" y="0"/>
            <a:chExt cx="2570319" cy="10033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9875612" y="549969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Server reconciliation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11765779" y="5412274"/>
            <a:ext cx="1970600" cy="769205"/>
            <a:chOff x="0" y="0"/>
            <a:chExt cx="2570319" cy="10033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1846211" y="549969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Server reconciliation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3736378" y="5412274"/>
            <a:ext cx="1970600" cy="769205"/>
            <a:chOff x="0" y="0"/>
            <a:chExt cx="2570319" cy="10033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13816811" y="549969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Hardware-enforced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15706978" y="5412274"/>
            <a:ext cx="1970600" cy="769205"/>
            <a:chOff x="0" y="0"/>
            <a:chExt cx="2570319" cy="10033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5787411" y="5499694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IOU-based reconciliation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6014845" y="6181480"/>
            <a:ext cx="1809734" cy="769205"/>
            <a:chOff x="0" y="0"/>
            <a:chExt cx="2360497" cy="10033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9" id="139"/>
          <p:cNvSpPr txBox="true"/>
          <p:nvPr/>
        </p:nvSpPr>
        <p:spPr>
          <a:xfrm rot="0">
            <a:off x="6095278" y="6268899"/>
            <a:ext cx="1648869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Fraud Detection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7824580" y="6181480"/>
            <a:ext cx="1970600" cy="769205"/>
            <a:chOff x="0" y="0"/>
            <a:chExt cx="2570319" cy="10033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7905012" y="6268899"/>
            <a:ext cx="1809734" cy="59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Real-time local audit (walkBack) – before payment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9795179" y="6181480"/>
            <a:ext cx="1970600" cy="769205"/>
            <a:chOff x="0" y="0"/>
            <a:chExt cx="2570319" cy="10033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9875612" y="626889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Post-sync detection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11765779" y="6181480"/>
            <a:ext cx="1970600" cy="769205"/>
            <a:chOff x="0" y="0"/>
            <a:chExt cx="2570319" cy="10033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11846211" y="626889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Post-sync detection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13736378" y="6181480"/>
            <a:ext cx="1970600" cy="769205"/>
            <a:chOff x="0" y="0"/>
            <a:chExt cx="2570319" cy="10033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5" id="155"/>
          <p:cNvSpPr txBox="true"/>
          <p:nvPr/>
        </p:nvSpPr>
        <p:spPr>
          <a:xfrm rot="0">
            <a:off x="13816811" y="626889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Hardware-enforced</a:t>
            </a:r>
          </a:p>
        </p:txBody>
      </p:sp>
      <p:grpSp>
        <p:nvGrpSpPr>
          <p:cNvPr name="Group 156" id="156"/>
          <p:cNvGrpSpPr/>
          <p:nvPr/>
        </p:nvGrpSpPr>
        <p:grpSpPr>
          <a:xfrm rot="0">
            <a:off x="15706978" y="6181480"/>
            <a:ext cx="1970600" cy="769205"/>
            <a:chOff x="0" y="0"/>
            <a:chExt cx="2570319" cy="10033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9" id="159"/>
          <p:cNvSpPr txBox="true"/>
          <p:nvPr/>
        </p:nvSpPr>
        <p:spPr>
          <a:xfrm rot="0">
            <a:off x="15787411" y="626889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Post-sync detection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6014845" y="6950685"/>
            <a:ext cx="1809734" cy="769205"/>
            <a:chOff x="0" y="0"/>
            <a:chExt cx="2360497" cy="10033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3" id="163"/>
          <p:cNvSpPr txBox="true"/>
          <p:nvPr/>
        </p:nvSpPr>
        <p:spPr>
          <a:xfrm rot="0">
            <a:off x="6095278" y="7038104"/>
            <a:ext cx="1648869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Max Offline Limit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7824580" y="6950685"/>
            <a:ext cx="1970600" cy="769205"/>
            <a:chOff x="0" y="0"/>
            <a:chExt cx="2570319" cy="10033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7" id="167"/>
          <p:cNvSpPr txBox="true"/>
          <p:nvPr/>
        </p:nvSpPr>
        <p:spPr>
          <a:xfrm rot="0">
            <a:off x="7905012" y="7038104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Configurable (default ₹2,000)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9795179" y="6950685"/>
            <a:ext cx="1970600" cy="769205"/>
            <a:chOff x="0" y="0"/>
            <a:chExt cx="2570319" cy="10033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1" id="171"/>
          <p:cNvSpPr txBox="true"/>
          <p:nvPr/>
        </p:nvSpPr>
        <p:spPr>
          <a:xfrm rot="0">
            <a:off x="9875612" y="703810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₹2,000 balance</a:t>
            </a:r>
          </a:p>
        </p:txBody>
      </p:sp>
      <p:grpSp>
        <p:nvGrpSpPr>
          <p:cNvPr name="Group 172" id="172"/>
          <p:cNvGrpSpPr/>
          <p:nvPr/>
        </p:nvGrpSpPr>
        <p:grpSpPr>
          <a:xfrm rot="0">
            <a:off x="11765779" y="6950685"/>
            <a:ext cx="1970600" cy="769205"/>
            <a:chOff x="0" y="0"/>
            <a:chExt cx="2570319" cy="100330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5" id="175"/>
          <p:cNvSpPr txBox="true"/>
          <p:nvPr/>
        </p:nvSpPr>
        <p:spPr>
          <a:xfrm rot="0">
            <a:off x="11846211" y="703810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₹500/txn, ₹2,000 total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13736378" y="6950685"/>
            <a:ext cx="1970600" cy="769205"/>
            <a:chOff x="0" y="0"/>
            <a:chExt cx="2570319" cy="10033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9" id="179"/>
          <p:cNvSpPr txBox="true"/>
          <p:nvPr/>
        </p:nvSpPr>
        <p:spPr>
          <a:xfrm rot="0">
            <a:off x="13816811" y="703810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Not specified</a:t>
            </a:r>
          </a:p>
        </p:txBody>
      </p:sp>
      <p:grpSp>
        <p:nvGrpSpPr>
          <p:cNvPr name="Group 180" id="180"/>
          <p:cNvGrpSpPr/>
          <p:nvPr/>
        </p:nvGrpSpPr>
        <p:grpSpPr>
          <a:xfrm rot="0">
            <a:off x="15706978" y="6950685"/>
            <a:ext cx="1970600" cy="769205"/>
            <a:chOff x="0" y="0"/>
            <a:chExt cx="2570319" cy="10033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3" id="183"/>
          <p:cNvSpPr txBox="true"/>
          <p:nvPr/>
        </p:nvSpPr>
        <p:spPr>
          <a:xfrm rot="0">
            <a:off x="15787411" y="703810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Not specified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6014845" y="7719890"/>
            <a:ext cx="1809734" cy="769205"/>
            <a:chOff x="0" y="0"/>
            <a:chExt cx="2360497" cy="100330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7" id="187"/>
          <p:cNvSpPr txBox="true"/>
          <p:nvPr/>
        </p:nvSpPr>
        <p:spPr>
          <a:xfrm rot="0">
            <a:off x="6095278" y="7807309"/>
            <a:ext cx="1648869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Infrastructure Required</a:t>
            </a:r>
          </a:p>
        </p:txBody>
      </p:sp>
      <p:grpSp>
        <p:nvGrpSpPr>
          <p:cNvPr name="Group 188" id="188"/>
          <p:cNvGrpSpPr/>
          <p:nvPr/>
        </p:nvGrpSpPr>
        <p:grpSpPr>
          <a:xfrm rot="0">
            <a:off x="7824580" y="7719890"/>
            <a:ext cx="1970600" cy="769205"/>
            <a:chOff x="0" y="0"/>
            <a:chExt cx="2570319" cy="100330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1" id="191"/>
          <p:cNvSpPr txBox="true"/>
          <p:nvPr/>
        </p:nvSpPr>
        <p:spPr>
          <a:xfrm rot="0">
            <a:off x="7905012" y="7807309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None – two phones only</a:t>
            </a:r>
          </a:p>
        </p:txBody>
      </p:sp>
      <p:grpSp>
        <p:nvGrpSpPr>
          <p:cNvPr name="Group 192" id="192"/>
          <p:cNvGrpSpPr/>
          <p:nvPr/>
        </p:nvGrpSpPr>
        <p:grpSpPr>
          <a:xfrm rot="0">
            <a:off x="9795179" y="7719890"/>
            <a:ext cx="1970600" cy="769205"/>
            <a:chOff x="0" y="0"/>
            <a:chExt cx="2570319" cy="100330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5" id="195"/>
          <p:cNvSpPr txBox="true"/>
          <p:nvPr/>
        </p:nvSpPr>
        <p:spPr>
          <a:xfrm rot="0">
            <a:off x="9875612" y="7807309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NFC phones + certified terminals</a:t>
            </a:r>
          </a:p>
        </p:txBody>
      </p:sp>
      <p:grpSp>
        <p:nvGrpSpPr>
          <p:cNvPr name="Group 196" id="196"/>
          <p:cNvGrpSpPr/>
          <p:nvPr/>
        </p:nvGrpSpPr>
        <p:grpSpPr>
          <a:xfrm rot="0">
            <a:off x="11765779" y="7719890"/>
            <a:ext cx="1970600" cy="769205"/>
            <a:chOff x="0" y="0"/>
            <a:chExt cx="2570319" cy="100330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198" id="19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9" id="199"/>
          <p:cNvSpPr txBox="true"/>
          <p:nvPr/>
        </p:nvSpPr>
        <p:spPr>
          <a:xfrm rot="0">
            <a:off x="11846211" y="7807309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Cards/Wallets/Pos</a:t>
            </a:r>
          </a:p>
        </p:txBody>
      </p:sp>
      <p:grpSp>
        <p:nvGrpSpPr>
          <p:cNvPr name="Group 200" id="200"/>
          <p:cNvGrpSpPr/>
          <p:nvPr/>
        </p:nvGrpSpPr>
        <p:grpSpPr>
          <a:xfrm rot="0">
            <a:off x="13736378" y="7719890"/>
            <a:ext cx="1970600" cy="769205"/>
            <a:chOff x="0" y="0"/>
            <a:chExt cx="2570319" cy="100330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3" id="203"/>
          <p:cNvSpPr txBox="true"/>
          <p:nvPr/>
        </p:nvSpPr>
        <p:spPr>
          <a:xfrm rot="0">
            <a:off x="13816811" y="7807309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Secure hardware (TPM/TEE/SE)</a:t>
            </a:r>
          </a:p>
        </p:txBody>
      </p:sp>
      <p:grpSp>
        <p:nvGrpSpPr>
          <p:cNvPr name="Group 204" id="204"/>
          <p:cNvGrpSpPr/>
          <p:nvPr/>
        </p:nvGrpSpPr>
        <p:grpSpPr>
          <a:xfrm rot="0">
            <a:off x="15706978" y="7719890"/>
            <a:ext cx="1970600" cy="769205"/>
            <a:chOff x="0" y="0"/>
            <a:chExt cx="2570319" cy="100330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06" id="20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7" id="207"/>
          <p:cNvSpPr txBox="true"/>
          <p:nvPr/>
        </p:nvSpPr>
        <p:spPr>
          <a:xfrm rot="0">
            <a:off x="15787411" y="7807309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Payment network integration</a:t>
            </a:r>
          </a:p>
        </p:txBody>
      </p:sp>
      <p:grpSp>
        <p:nvGrpSpPr>
          <p:cNvPr name="Group 208" id="208"/>
          <p:cNvGrpSpPr/>
          <p:nvPr/>
        </p:nvGrpSpPr>
        <p:grpSpPr>
          <a:xfrm rot="0">
            <a:off x="6014845" y="8489095"/>
            <a:ext cx="1809734" cy="769205"/>
            <a:chOff x="0" y="0"/>
            <a:chExt cx="2360497" cy="100330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2360497" cy="1003300"/>
            </a:xfrm>
            <a:custGeom>
              <a:avLst/>
              <a:gdLst/>
              <a:ahLst/>
              <a:cxnLst/>
              <a:rect r="r" b="b" t="t" l="l"/>
              <a:pathLst>
                <a:path h="1003300" w="2360497">
                  <a:moveTo>
                    <a:pt x="0" y="0"/>
                  </a:moveTo>
                  <a:lnTo>
                    <a:pt x="2360497" y="0"/>
                  </a:lnTo>
                  <a:lnTo>
                    <a:pt x="2360497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DCEAF5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2360497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1" id="211"/>
          <p:cNvSpPr txBox="true"/>
          <p:nvPr/>
        </p:nvSpPr>
        <p:spPr>
          <a:xfrm rot="0">
            <a:off x="6095278" y="8576514"/>
            <a:ext cx="1648869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Channel</a:t>
            </a:r>
          </a:p>
        </p:txBody>
      </p:sp>
      <p:grpSp>
        <p:nvGrpSpPr>
          <p:cNvPr name="Group 212" id="212"/>
          <p:cNvGrpSpPr/>
          <p:nvPr/>
        </p:nvGrpSpPr>
        <p:grpSpPr>
          <a:xfrm rot="0">
            <a:off x="7824580" y="8489095"/>
            <a:ext cx="1970600" cy="769205"/>
            <a:chOff x="0" y="0"/>
            <a:chExt cx="2570319" cy="100330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5" id="215"/>
          <p:cNvSpPr txBox="true"/>
          <p:nvPr/>
        </p:nvSpPr>
        <p:spPr>
          <a:xfrm rot="0">
            <a:off x="7905012" y="8576514"/>
            <a:ext cx="1809734" cy="3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NFC (bootstrap) + BLE (data)</a:t>
            </a:r>
          </a:p>
        </p:txBody>
      </p:sp>
      <p:grpSp>
        <p:nvGrpSpPr>
          <p:cNvPr name="Group 216" id="216"/>
          <p:cNvGrpSpPr/>
          <p:nvPr/>
        </p:nvGrpSpPr>
        <p:grpSpPr>
          <a:xfrm rot="0">
            <a:off x="9795179" y="8489095"/>
            <a:ext cx="1970600" cy="769205"/>
            <a:chOff x="0" y="0"/>
            <a:chExt cx="2570319" cy="100330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18" id="218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9" id="219"/>
          <p:cNvSpPr txBox="true"/>
          <p:nvPr/>
        </p:nvSpPr>
        <p:spPr>
          <a:xfrm rot="0">
            <a:off x="9875612" y="857651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NFC only</a:t>
            </a:r>
          </a:p>
        </p:txBody>
      </p:sp>
      <p:grpSp>
        <p:nvGrpSpPr>
          <p:cNvPr name="Group 220" id="220"/>
          <p:cNvGrpSpPr/>
          <p:nvPr/>
        </p:nvGrpSpPr>
        <p:grpSpPr>
          <a:xfrm rot="0">
            <a:off x="11765779" y="8489095"/>
            <a:ext cx="1970600" cy="769205"/>
            <a:chOff x="0" y="0"/>
            <a:chExt cx="2570319" cy="1003300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22" id="222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3" id="223"/>
          <p:cNvSpPr txBox="true"/>
          <p:nvPr/>
        </p:nvSpPr>
        <p:spPr>
          <a:xfrm rot="0">
            <a:off x="11846211" y="857651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Proximity mode</a:t>
            </a:r>
          </a:p>
        </p:txBody>
      </p:sp>
      <p:grpSp>
        <p:nvGrpSpPr>
          <p:cNvPr name="Group 224" id="224"/>
          <p:cNvGrpSpPr/>
          <p:nvPr/>
        </p:nvGrpSpPr>
        <p:grpSpPr>
          <a:xfrm rot="0">
            <a:off x="13736378" y="8489095"/>
            <a:ext cx="1970600" cy="769205"/>
            <a:chOff x="0" y="0"/>
            <a:chExt cx="2570319" cy="100330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26" id="226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7" id="227"/>
          <p:cNvSpPr txBox="true"/>
          <p:nvPr/>
        </p:nvSpPr>
        <p:spPr>
          <a:xfrm rot="0">
            <a:off x="13816811" y="857651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NFC + hardware</a:t>
            </a:r>
          </a:p>
        </p:txBody>
      </p:sp>
      <p:grpSp>
        <p:nvGrpSpPr>
          <p:cNvPr name="Group 228" id="228"/>
          <p:cNvGrpSpPr/>
          <p:nvPr/>
        </p:nvGrpSpPr>
        <p:grpSpPr>
          <a:xfrm rot="0">
            <a:off x="15706978" y="8489095"/>
            <a:ext cx="1970600" cy="769205"/>
            <a:chOff x="0" y="0"/>
            <a:chExt cx="2570319" cy="1003300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2570319" cy="1003300"/>
            </a:xfrm>
            <a:custGeom>
              <a:avLst/>
              <a:gdLst/>
              <a:ahLst/>
              <a:cxnLst/>
              <a:rect r="r" b="b" t="t" l="l"/>
              <a:pathLst>
                <a:path h="1003300" w="2570319">
                  <a:moveTo>
                    <a:pt x="0" y="0"/>
                  </a:moveTo>
                  <a:lnTo>
                    <a:pt x="2570319" y="0"/>
                  </a:lnTo>
                  <a:lnTo>
                    <a:pt x="2570319" y="1003300"/>
                  </a:lnTo>
                  <a:lnTo>
                    <a:pt x="0" y="1003300"/>
                  </a:lnTo>
                  <a:close/>
                </a:path>
              </a:pathLst>
            </a:custGeom>
            <a:solidFill>
              <a:srgbClr val="F5F8FB"/>
            </a:solidFill>
            <a:ln w="9525" cap="sq">
              <a:solidFill>
                <a:srgbClr val="8AA9C2"/>
              </a:solidFill>
              <a:prstDash val="solid"/>
              <a:miter/>
            </a:ln>
          </p:spPr>
        </p:sp>
        <p:sp>
          <p:nvSpPr>
            <p:cNvPr name="TextBox 230" id="230"/>
            <p:cNvSpPr txBox="true"/>
            <p:nvPr/>
          </p:nvSpPr>
          <p:spPr>
            <a:xfrm>
              <a:off x="0" y="-38100"/>
              <a:ext cx="2570319" cy="10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1" id="231"/>
          <p:cNvSpPr txBox="true"/>
          <p:nvPr/>
        </p:nvSpPr>
        <p:spPr>
          <a:xfrm rot="0">
            <a:off x="15787411" y="8576514"/>
            <a:ext cx="1809734" cy="2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Multiple</a:t>
            </a:r>
          </a:p>
        </p:txBody>
      </p:sp>
      <p:grpSp>
        <p:nvGrpSpPr>
          <p:cNvPr name="Group 232" id="232"/>
          <p:cNvGrpSpPr/>
          <p:nvPr/>
        </p:nvGrpSpPr>
        <p:grpSpPr>
          <a:xfrm rot="0">
            <a:off x="266700" y="2362200"/>
            <a:ext cx="5429250" cy="5073630"/>
            <a:chOff x="0" y="0"/>
            <a:chExt cx="7239000" cy="676484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7239000" cy="6764840"/>
            </a:xfrm>
            <a:custGeom>
              <a:avLst/>
              <a:gdLst/>
              <a:ahLst/>
              <a:cxnLst/>
              <a:rect r="r" b="b" t="t" l="l"/>
              <a:pathLst>
                <a:path h="6764840" w="7239000">
                  <a:moveTo>
                    <a:pt x="152400" y="0"/>
                  </a:moveTo>
                  <a:lnTo>
                    <a:pt x="7086600" y="0"/>
                  </a:lnTo>
                  <a:cubicBezTo>
                    <a:pt x="7170769" y="0"/>
                    <a:pt x="7239000" y="51921"/>
                    <a:pt x="7239000" y="115969"/>
                  </a:cubicBezTo>
                  <a:lnTo>
                    <a:pt x="7239000" y="6648871"/>
                  </a:lnTo>
                  <a:cubicBezTo>
                    <a:pt x="7239000" y="6712919"/>
                    <a:pt x="7170769" y="6764840"/>
                    <a:pt x="7086600" y="6764840"/>
                  </a:cubicBezTo>
                  <a:lnTo>
                    <a:pt x="152400" y="6764840"/>
                  </a:lnTo>
                  <a:cubicBezTo>
                    <a:pt x="68232" y="6764840"/>
                    <a:pt x="0" y="6712919"/>
                    <a:pt x="0" y="6648871"/>
                  </a:cubicBezTo>
                  <a:lnTo>
                    <a:pt x="0" y="115969"/>
                  </a:lnTo>
                  <a:cubicBezTo>
                    <a:pt x="0" y="51921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3FA"/>
            </a:solidFill>
            <a:ln w="19050" cap="sq">
              <a:solidFill>
                <a:srgbClr val="B7D3EA"/>
              </a:solidFill>
              <a:prstDash val="solid"/>
              <a:miter/>
            </a:ln>
          </p:spPr>
        </p:sp>
        <p:sp>
          <p:nvSpPr>
            <p:cNvPr name="TextBox 234" id="234"/>
            <p:cNvSpPr txBox="true"/>
            <p:nvPr/>
          </p:nvSpPr>
          <p:spPr>
            <a:xfrm>
              <a:off x="0" y="-38100"/>
              <a:ext cx="7239000" cy="680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5" id="235"/>
          <p:cNvSpPr txBox="true"/>
          <p:nvPr/>
        </p:nvSpPr>
        <p:spPr>
          <a:xfrm rot="0">
            <a:off x="495300" y="2628900"/>
            <a:ext cx="49530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102A43"/>
                </a:solidFill>
                <a:latin typeface="Batangas"/>
                <a:ea typeface="Batangas"/>
                <a:cs typeface="Batangas"/>
                <a:sym typeface="Batangas"/>
              </a:rPr>
              <a:t>References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781050" y="3248025"/>
            <a:ext cx="4953000" cy="5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RBI Circular: Offline Small-Value Digital Payments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781050" y="3919537"/>
            <a:ext cx="4953000" cy="27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UPI Lite Offline Payment Limits – TaxGuru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781050" y="4333875"/>
            <a:ext cx="4953000" cy="5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RBI Offline Framework Amendment – TeamLease RegTech</a:t>
            </a:r>
          </a:p>
        </p:txBody>
      </p:sp>
      <p:sp>
        <p:nvSpPr>
          <p:cNvPr name="TextBox 239" id="239"/>
          <p:cNvSpPr txBox="true"/>
          <p:nvPr/>
        </p:nvSpPr>
        <p:spPr>
          <a:xfrm rot="0">
            <a:off x="781050" y="5005387"/>
            <a:ext cx="4953000" cy="5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RBI Offline Digital Payments Framework Update – Casansaar</a:t>
            </a:r>
          </a:p>
        </p:txBody>
      </p:sp>
      <p:sp>
        <p:nvSpPr>
          <p:cNvPr name="TextBox 240" id="240"/>
          <p:cNvSpPr txBox="true"/>
          <p:nvPr/>
        </p:nvSpPr>
        <p:spPr>
          <a:xfrm rot="0">
            <a:off x="781050" y="5657850"/>
            <a:ext cx="4953000" cy="5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UPI Lite X: Offline Payment Limits &amp; How It Works – PhonePe</a:t>
            </a:r>
          </a:p>
        </p:txBody>
      </p:sp>
      <p:sp>
        <p:nvSpPr>
          <p:cNvPr name="TextBox 241" id="241"/>
          <p:cNvSpPr txBox="true"/>
          <p:nvPr/>
        </p:nvSpPr>
        <p:spPr>
          <a:xfrm rot="0">
            <a:off x="781050" y="6310313"/>
            <a:ext cx="4953000" cy="52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ElasticPay: Offline Digital Payments System – Research Matters</a:t>
            </a:r>
          </a:p>
        </p:txBody>
      </p:sp>
      <p:sp>
        <p:nvSpPr>
          <p:cNvPr name="TextBox 242" id="242"/>
          <p:cNvSpPr txBox="true"/>
          <p:nvPr/>
        </p:nvSpPr>
        <p:spPr>
          <a:xfrm rot="0">
            <a:off x="781050" y="6962775"/>
            <a:ext cx="4953000" cy="27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869">
                <a:solidFill>
                  <a:srgbClr val="205DB1"/>
                </a:solidFill>
                <a:latin typeface="Batangas"/>
                <a:ea typeface="Batangas"/>
                <a:cs typeface="Batangas"/>
                <a:sym typeface="Batangas"/>
              </a:rPr>
              <a:t>Crunchfish Digital Cash</a:t>
            </a:r>
          </a:p>
        </p:txBody>
      </p:sp>
      <p:sp>
        <p:nvSpPr>
          <p:cNvPr name="TextBox 243" id="243"/>
          <p:cNvSpPr txBox="true"/>
          <p:nvPr/>
        </p:nvSpPr>
        <p:spPr>
          <a:xfrm rot="0">
            <a:off x="495300" y="3238500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TextBox 244" id="244"/>
          <p:cNvSpPr txBox="true"/>
          <p:nvPr/>
        </p:nvSpPr>
        <p:spPr>
          <a:xfrm rot="0">
            <a:off x="495300" y="3905250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495300" y="4324350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TextBox 246" id="246"/>
          <p:cNvSpPr txBox="true"/>
          <p:nvPr/>
        </p:nvSpPr>
        <p:spPr>
          <a:xfrm rot="0">
            <a:off x="495300" y="4991100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TextBox 247" id="247"/>
          <p:cNvSpPr txBox="true"/>
          <p:nvPr/>
        </p:nvSpPr>
        <p:spPr>
          <a:xfrm rot="0">
            <a:off x="495300" y="5648325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495300" y="6305550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495300" y="6953250"/>
            <a:ext cx="83195" cy="34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1869" b="true">
                <a:solidFill>
                  <a:srgbClr val="D88E2D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</a:p>
        </p:txBody>
      </p:sp>
      <p:sp>
        <p:nvSpPr>
          <p:cNvPr name="Freeform 250" id="250"/>
          <p:cNvSpPr/>
          <p:nvPr/>
        </p:nvSpPr>
        <p:spPr>
          <a:xfrm flipH="false" flipV="false" rot="0">
            <a:off x="14864296" y="-9525"/>
            <a:ext cx="3704298" cy="837548"/>
          </a:xfrm>
          <a:custGeom>
            <a:avLst/>
            <a:gdLst/>
            <a:ahLst/>
            <a:cxnLst/>
            <a:rect r="r" b="b" t="t" l="l"/>
            <a:pathLst>
              <a:path h="837548" w="3704298">
                <a:moveTo>
                  <a:pt x="0" y="0"/>
                </a:moveTo>
                <a:lnTo>
                  <a:pt x="3704299" y="0"/>
                </a:lnTo>
                <a:lnTo>
                  <a:pt x="3704299" y="837548"/>
                </a:lnTo>
                <a:lnTo>
                  <a:pt x="0" y="837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504" r="0" b="-2850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DAGzb5LVTdI</dc:identifier>
  <dcterms:modified xsi:type="dcterms:W3CDTF">2011-08-01T06:04:30Z</dcterms:modified>
  <cp:revision>1</cp:revision>
  <dc:title>SIH2025-IDEA-Presentation-Format(1).pptx</dc:title>
</cp:coreProperties>
</file>